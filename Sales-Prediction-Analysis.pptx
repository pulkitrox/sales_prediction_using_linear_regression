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Barlow Light" panose="00000400000000000000" pitchFamily="2" charset="0"/>
      <p:regular r:id="rId12"/>
    </p:embeddedFont>
    <p:embeddedFont>
      <p:font typeface="Montserrat" panose="00000500000000000000" pitchFamily="2"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69" y="4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9811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58309" y="3094315"/>
            <a:ext cx="6344364"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Times New Roman" panose="02020603050405020304" pitchFamily="18" charset="0"/>
                <a:ea typeface="Barlow Bold" pitchFamily="34" charset="-122"/>
                <a:cs typeface="Times New Roman" panose="02020603050405020304" pitchFamily="18" charset="0"/>
              </a:rPr>
              <a:t>Sales Prediction Analysis</a:t>
            </a:r>
            <a:endParaRPr lang="en-US" sz="4450" dirty="0"/>
          </a:p>
        </p:txBody>
      </p:sp>
      <p:sp>
        <p:nvSpPr>
          <p:cNvPr id="3" name="Text 1"/>
          <p:cNvSpPr/>
          <p:nvPr/>
        </p:nvSpPr>
        <p:spPr>
          <a:xfrm>
            <a:off x="758309" y="3893582"/>
            <a:ext cx="11042809" cy="570071"/>
          </a:xfrm>
          <a:prstGeom prst="rect">
            <a:avLst/>
          </a:prstGeom>
          <a:noFill/>
          <a:ln/>
        </p:spPr>
        <p:txBody>
          <a:bodyPr wrap="none" lIns="0" tIns="0" rIns="0" bIns="0" rtlCol="0" anchor="t"/>
          <a:lstStyle/>
          <a:p>
            <a:pPr marL="0" indent="0" algn="l">
              <a:lnSpc>
                <a:spcPts val="4450"/>
              </a:lnSpc>
              <a:buNone/>
            </a:pPr>
            <a:r>
              <a:rPr lang="en-US" sz="3550" b="1" dirty="0">
                <a:solidFill>
                  <a:srgbClr val="2E3C4E"/>
                </a:solidFill>
                <a:latin typeface="Times New Roman" panose="02020603050405020304" pitchFamily="18" charset="0"/>
                <a:ea typeface="Barlow Bold" pitchFamily="34" charset="-122"/>
                <a:cs typeface="Times New Roman" panose="02020603050405020304" pitchFamily="18" charset="0"/>
              </a:rPr>
              <a:t>Advertising Expenditures on TV, Radio, and Newspaper</a:t>
            </a:r>
            <a:endParaRPr lang="en-US" sz="3550" dirty="0"/>
          </a:p>
        </p:txBody>
      </p:sp>
      <p:sp>
        <p:nvSpPr>
          <p:cNvPr id="4" name="Text 2"/>
          <p:cNvSpPr/>
          <p:nvPr/>
        </p:nvSpPr>
        <p:spPr>
          <a:xfrm>
            <a:off x="758309" y="4788575"/>
            <a:ext cx="13113782" cy="346710"/>
          </a:xfrm>
          <a:prstGeom prst="rect">
            <a:avLst/>
          </a:prstGeom>
          <a:noFill/>
          <a:ln/>
        </p:spPr>
        <p:txBody>
          <a:bodyPr wrap="non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A Data Science Project Report</a:t>
            </a:r>
            <a:endParaRPr lang="en-US" sz="1700" dirty="0"/>
          </a:p>
        </p:txBody>
      </p:sp>
      <p:sp>
        <p:nvSpPr>
          <p:cNvPr id="5" name="Rectangle 4">
            <a:extLst>
              <a:ext uri="{FF2B5EF4-FFF2-40B4-BE49-F238E27FC236}">
                <a16:creationId xmlns:a16="http://schemas.microsoft.com/office/drawing/2014/main" id="{1BD30A0B-6978-5B6C-CB45-12582244D59A}"/>
              </a:ext>
            </a:extLst>
          </p:cNvPr>
          <p:cNvSpPr/>
          <p:nvPr/>
        </p:nvSpPr>
        <p:spPr>
          <a:xfrm>
            <a:off x="1" y="7781364"/>
            <a:ext cx="14630400" cy="448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59248"/>
          </a:xfrm>
          <a:prstGeom prst="rect">
            <a:avLst/>
          </a:prstGeom>
        </p:spPr>
      </p:pic>
      <p:sp>
        <p:nvSpPr>
          <p:cNvPr id="3" name="Text 0"/>
          <p:cNvSpPr/>
          <p:nvPr/>
        </p:nvSpPr>
        <p:spPr>
          <a:xfrm>
            <a:off x="758309" y="3266837"/>
            <a:ext cx="5131356" cy="641390"/>
          </a:xfrm>
          <a:prstGeom prst="rect">
            <a:avLst/>
          </a:prstGeom>
          <a:noFill/>
          <a:ln/>
        </p:spPr>
        <p:txBody>
          <a:bodyPr wrap="none" lIns="0" tIns="0" rIns="0" bIns="0" rtlCol="0" anchor="t"/>
          <a:lstStyle/>
          <a:p>
            <a:pPr marL="0" indent="0" algn="l">
              <a:lnSpc>
                <a:spcPts val="5050"/>
              </a:lnSpc>
              <a:buNone/>
            </a:pPr>
            <a:r>
              <a:rPr lang="en-US" sz="4000" b="1" dirty="0">
                <a:solidFill>
                  <a:srgbClr val="2E3C4E"/>
                </a:solidFill>
                <a:latin typeface="Times New Roman" panose="02020603050405020304" pitchFamily="18" charset="0"/>
                <a:ea typeface="Barlow Bold" pitchFamily="34" charset="-122"/>
                <a:cs typeface="Times New Roman" panose="02020603050405020304" pitchFamily="18" charset="0"/>
              </a:rPr>
              <a:t>Dataset Overview</a:t>
            </a:r>
            <a:endParaRPr lang="en-US" sz="4000" dirty="0"/>
          </a:p>
        </p:txBody>
      </p:sp>
      <p:sp>
        <p:nvSpPr>
          <p:cNvPr id="4" name="Shape 1"/>
          <p:cNvSpPr/>
          <p:nvPr/>
        </p:nvSpPr>
        <p:spPr>
          <a:xfrm>
            <a:off x="758309" y="4493062"/>
            <a:ext cx="4241244" cy="2907149"/>
          </a:xfrm>
          <a:prstGeom prst="roundRect">
            <a:avLst>
              <a:gd name="adj" fmla="val 3774"/>
            </a:avLst>
          </a:prstGeom>
          <a:solidFill>
            <a:srgbClr val="FFFFFF"/>
          </a:solidFill>
          <a:ln/>
        </p:spPr>
      </p:sp>
      <p:pic>
        <p:nvPicPr>
          <p:cNvPr id="5" name="Image 1" descr="preencoded.png"/>
          <p:cNvPicPr>
            <a:picLocks noChangeAspect="1"/>
          </p:cNvPicPr>
          <p:nvPr/>
        </p:nvPicPr>
        <p:blipFill>
          <a:blip r:embed="rId4"/>
          <a:stretch>
            <a:fillRect/>
          </a:stretch>
        </p:blipFill>
        <p:spPr>
          <a:xfrm>
            <a:off x="758309" y="4470202"/>
            <a:ext cx="4241244" cy="91440"/>
          </a:xfrm>
          <a:prstGeom prst="rect">
            <a:avLst/>
          </a:prstGeom>
        </p:spPr>
      </p:pic>
      <p:pic>
        <p:nvPicPr>
          <p:cNvPr id="6" name="Image 2" descr="preencoded.png"/>
          <p:cNvPicPr>
            <a:picLocks noChangeAspect="1"/>
          </p:cNvPicPr>
          <p:nvPr/>
        </p:nvPicPr>
        <p:blipFill>
          <a:blip r:embed="rId5"/>
          <a:stretch>
            <a:fillRect/>
          </a:stretch>
        </p:blipFill>
        <p:spPr>
          <a:xfrm>
            <a:off x="2586454" y="4200644"/>
            <a:ext cx="584954" cy="584954"/>
          </a:xfrm>
          <a:prstGeom prst="rect">
            <a:avLst/>
          </a:prstGeom>
        </p:spPr>
      </p:pic>
      <p:sp>
        <p:nvSpPr>
          <p:cNvPr id="7" name="Text 2"/>
          <p:cNvSpPr/>
          <p:nvPr/>
        </p:nvSpPr>
        <p:spPr>
          <a:xfrm>
            <a:off x="2761952" y="4346853"/>
            <a:ext cx="233958" cy="292418"/>
          </a:xfrm>
          <a:prstGeom prst="rect">
            <a:avLst/>
          </a:prstGeom>
          <a:noFill/>
          <a:ln/>
        </p:spPr>
        <p:txBody>
          <a:bodyPr wrap="none" lIns="0" tIns="0" rIns="0" bIns="0" rtlCol="0" anchor="t"/>
          <a:lstStyle/>
          <a:p>
            <a:pPr marL="0" indent="0" algn="l">
              <a:lnSpc>
                <a:spcPts val="2900"/>
              </a:lnSpc>
              <a:buNone/>
            </a:pPr>
            <a:r>
              <a:rPr lang="en-US" sz="1800" b="1" dirty="0">
                <a:solidFill>
                  <a:srgbClr val="000000"/>
                </a:solidFill>
                <a:latin typeface="Times New Roman" panose="02020603050405020304" pitchFamily="18" charset="0"/>
                <a:ea typeface="Barlow Bold" pitchFamily="34" charset="-122"/>
                <a:cs typeface="Times New Roman" panose="02020603050405020304" pitchFamily="18" charset="0"/>
              </a:rPr>
              <a:t>1</a:t>
            </a:r>
            <a:endParaRPr lang="en-US" sz="1800" dirty="0"/>
          </a:p>
        </p:txBody>
      </p:sp>
      <p:sp>
        <p:nvSpPr>
          <p:cNvPr id="8" name="Text 3"/>
          <p:cNvSpPr/>
          <p:nvPr/>
        </p:nvSpPr>
        <p:spPr>
          <a:xfrm>
            <a:off x="976074" y="4980503"/>
            <a:ext cx="2565678" cy="320635"/>
          </a:xfrm>
          <a:prstGeom prst="rect">
            <a:avLst/>
          </a:prstGeom>
          <a:noFill/>
          <a:ln/>
        </p:spPr>
        <p:txBody>
          <a:bodyPr wrap="none" lIns="0" tIns="0" rIns="0" bIns="0" rtlCol="0" anchor="t"/>
          <a:lstStyle/>
          <a:p>
            <a:pPr marL="0" indent="0" algn="l">
              <a:lnSpc>
                <a:spcPts val="2500"/>
              </a:lnSpc>
              <a:buNone/>
            </a:pPr>
            <a:r>
              <a:rPr lang="en-US" sz="2000" b="1" dirty="0">
                <a:solidFill>
                  <a:srgbClr val="384653"/>
                </a:solidFill>
                <a:latin typeface="Times New Roman" panose="02020603050405020304" pitchFamily="18" charset="0"/>
                <a:ea typeface="Barlow Bold" pitchFamily="34" charset="-122"/>
                <a:cs typeface="Times New Roman" panose="02020603050405020304" pitchFamily="18" charset="0"/>
              </a:rPr>
              <a:t>Key Data Columns</a:t>
            </a:r>
            <a:endParaRPr lang="en-US" sz="2000" dirty="0"/>
          </a:p>
        </p:txBody>
      </p:sp>
      <p:sp>
        <p:nvSpPr>
          <p:cNvPr id="9" name="Text 4"/>
          <p:cNvSpPr/>
          <p:nvPr/>
        </p:nvSpPr>
        <p:spPr>
          <a:xfrm>
            <a:off x="976074" y="5418058"/>
            <a:ext cx="3805714" cy="311944"/>
          </a:xfrm>
          <a:prstGeom prst="rect">
            <a:avLst/>
          </a:prstGeom>
          <a:noFill/>
          <a:ln/>
        </p:spPr>
        <p:txBody>
          <a:bodyPr wrap="none" lIns="0" tIns="0" rIns="0" bIns="0" rtlCol="0" anchor="t"/>
          <a:lstStyle/>
          <a:p>
            <a:pPr marL="342900" indent="-342900" algn="l">
              <a:lnSpc>
                <a:spcPts val="2450"/>
              </a:lnSpc>
              <a:buSzPct val="100000"/>
              <a:buChar char="•"/>
            </a:pPr>
            <a:r>
              <a:rPr lang="en-US" sz="1500" dirty="0">
                <a:solidFill>
                  <a:srgbClr val="384653"/>
                </a:solidFill>
                <a:latin typeface="Montserrat" pitchFamily="34" charset="0"/>
                <a:ea typeface="Montserrat" pitchFamily="34" charset="-122"/>
                <a:cs typeface="Montserrat" pitchFamily="34" charset="-120"/>
              </a:rPr>
              <a:t>TV: Advertising spend on television.</a:t>
            </a:r>
            <a:endParaRPr lang="en-US" sz="1500" dirty="0"/>
          </a:p>
        </p:txBody>
      </p:sp>
      <p:sp>
        <p:nvSpPr>
          <p:cNvPr id="10" name="Text 5"/>
          <p:cNvSpPr/>
          <p:nvPr/>
        </p:nvSpPr>
        <p:spPr>
          <a:xfrm>
            <a:off x="976074" y="5798225"/>
            <a:ext cx="3805714" cy="311944"/>
          </a:xfrm>
          <a:prstGeom prst="rect">
            <a:avLst/>
          </a:prstGeom>
          <a:noFill/>
          <a:ln/>
        </p:spPr>
        <p:txBody>
          <a:bodyPr wrap="none" lIns="0" tIns="0" rIns="0" bIns="0" rtlCol="0" anchor="t"/>
          <a:lstStyle/>
          <a:p>
            <a:pPr marL="342900" indent="-342900" algn="l">
              <a:lnSpc>
                <a:spcPts val="2450"/>
              </a:lnSpc>
              <a:buSzPct val="100000"/>
              <a:buChar char="•"/>
            </a:pPr>
            <a:r>
              <a:rPr lang="en-US" sz="1500" dirty="0">
                <a:solidFill>
                  <a:srgbClr val="384653"/>
                </a:solidFill>
                <a:latin typeface="Montserrat" pitchFamily="34" charset="0"/>
                <a:ea typeface="Montserrat" pitchFamily="34" charset="-122"/>
                <a:cs typeface="Montserrat" pitchFamily="34" charset="-120"/>
              </a:rPr>
              <a:t>Radio: Advertising spend on radio.</a:t>
            </a:r>
            <a:endParaRPr lang="en-US" sz="1500" dirty="0"/>
          </a:p>
        </p:txBody>
      </p:sp>
      <p:sp>
        <p:nvSpPr>
          <p:cNvPr id="11" name="Text 6"/>
          <p:cNvSpPr/>
          <p:nvPr/>
        </p:nvSpPr>
        <p:spPr>
          <a:xfrm>
            <a:off x="976074" y="6178391"/>
            <a:ext cx="3805714" cy="623887"/>
          </a:xfrm>
          <a:prstGeom prst="rect">
            <a:avLst/>
          </a:prstGeom>
          <a:noFill/>
          <a:ln/>
        </p:spPr>
        <p:txBody>
          <a:bodyPr wrap="square" lIns="0" tIns="0" rIns="0" bIns="0" rtlCol="0" anchor="t"/>
          <a:lstStyle/>
          <a:p>
            <a:pPr marL="342900" indent="-342900" algn="l">
              <a:lnSpc>
                <a:spcPts val="2450"/>
              </a:lnSpc>
              <a:buSzPct val="100000"/>
              <a:buChar char="•"/>
            </a:pPr>
            <a:r>
              <a:rPr lang="en-US" sz="1500" dirty="0">
                <a:solidFill>
                  <a:srgbClr val="384653"/>
                </a:solidFill>
                <a:latin typeface="Montserrat" pitchFamily="34" charset="0"/>
                <a:ea typeface="Montserrat" pitchFamily="34" charset="-122"/>
                <a:cs typeface="Montserrat" pitchFamily="34" charset="-120"/>
              </a:rPr>
              <a:t>Newspaper: Advertising spend in newspapers.</a:t>
            </a:r>
            <a:endParaRPr lang="en-US" sz="1500" dirty="0"/>
          </a:p>
        </p:txBody>
      </p:sp>
      <p:sp>
        <p:nvSpPr>
          <p:cNvPr id="12" name="Text 7"/>
          <p:cNvSpPr/>
          <p:nvPr/>
        </p:nvSpPr>
        <p:spPr>
          <a:xfrm>
            <a:off x="976074" y="6870502"/>
            <a:ext cx="3805714" cy="311944"/>
          </a:xfrm>
          <a:prstGeom prst="rect">
            <a:avLst/>
          </a:prstGeom>
          <a:noFill/>
          <a:ln/>
        </p:spPr>
        <p:txBody>
          <a:bodyPr wrap="none" lIns="0" tIns="0" rIns="0" bIns="0" rtlCol="0" anchor="t"/>
          <a:lstStyle/>
          <a:p>
            <a:pPr marL="342900" indent="-342900" algn="l">
              <a:lnSpc>
                <a:spcPts val="2450"/>
              </a:lnSpc>
              <a:buSzPct val="100000"/>
              <a:buChar char="•"/>
            </a:pPr>
            <a:r>
              <a:rPr lang="en-US" sz="1500" dirty="0">
                <a:solidFill>
                  <a:srgbClr val="384653"/>
                </a:solidFill>
                <a:latin typeface="Montserrat" pitchFamily="34" charset="0"/>
                <a:ea typeface="Montserrat" pitchFamily="34" charset="-122"/>
                <a:cs typeface="Montserrat" pitchFamily="34" charset="-120"/>
              </a:rPr>
              <a:t>Sales: Units sold.</a:t>
            </a:r>
            <a:endParaRPr lang="en-US" sz="1500" dirty="0"/>
          </a:p>
        </p:txBody>
      </p:sp>
      <p:sp>
        <p:nvSpPr>
          <p:cNvPr id="13" name="Shape 8"/>
          <p:cNvSpPr/>
          <p:nvPr/>
        </p:nvSpPr>
        <p:spPr>
          <a:xfrm>
            <a:off x="5194459" y="4493062"/>
            <a:ext cx="4241363" cy="2907149"/>
          </a:xfrm>
          <a:prstGeom prst="roundRect">
            <a:avLst>
              <a:gd name="adj" fmla="val 3774"/>
            </a:avLst>
          </a:prstGeom>
          <a:solidFill>
            <a:srgbClr val="FFFFFF"/>
          </a:solidFill>
          <a:ln/>
        </p:spPr>
      </p:sp>
      <p:pic>
        <p:nvPicPr>
          <p:cNvPr id="14" name="Image 3" descr="preencoded.png"/>
          <p:cNvPicPr>
            <a:picLocks noChangeAspect="1"/>
          </p:cNvPicPr>
          <p:nvPr/>
        </p:nvPicPr>
        <p:blipFill>
          <a:blip r:embed="rId4"/>
          <a:stretch>
            <a:fillRect/>
          </a:stretch>
        </p:blipFill>
        <p:spPr>
          <a:xfrm>
            <a:off x="5194459" y="4470202"/>
            <a:ext cx="4241363" cy="91440"/>
          </a:xfrm>
          <a:prstGeom prst="rect">
            <a:avLst/>
          </a:prstGeom>
        </p:spPr>
      </p:pic>
      <p:pic>
        <p:nvPicPr>
          <p:cNvPr id="15" name="Image 4" descr="preencoded.png"/>
          <p:cNvPicPr>
            <a:picLocks noChangeAspect="1"/>
          </p:cNvPicPr>
          <p:nvPr/>
        </p:nvPicPr>
        <p:blipFill>
          <a:blip r:embed="rId5"/>
          <a:stretch>
            <a:fillRect/>
          </a:stretch>
        </p:blipFill>
        <p:spPr>
          <a:xfrm>
            <a:off x="7022604" y="4200644"/>
            <a:ext cx="584954" cy="584954"/>
          </a:xfrm>
          <a:prstGeom prst="rect">
            <a:avLst/>
          </a:prstGeom>
        </p:spPr>
      </p:pic>
      <p:sp>
        <p:nvSpPr>
          <p:cNvPr id="16" name="Text 9"/>
          <p:cNvSpPr/>
          <p:nvPr/>
        </p:nvSpPr>
        <p:spPr>
          <a:xfrm>
            <a:off x="7198102" y="4346853"/>
            <a:ext cx="233958" cy="292418"/>
          </a:xfrm>
          <a:prstGeom prst="rect">
            <a:avLst/>
          </a:prstGeom>
          <a:noFill/>
          <a:ln/>
        </p:spPr>
        <p:txBody>
          <a:bodyPr wrap="none" lIns="0" tIns="0" rIns="0" bIns="0" rtlCol="0" anchor="t"/>
          <a:lstStyle/>
          <a:p>
            <a:pPr marL="0" indent="0" algn="l">
              <a:lnSpc>
                <a:spcPts val="2900"/>
              </a:lnSpc>
              <a:buNone/>
            </a:pPr>
            <a:r>
              <a:rPr lang="en-US" sz="1800" b="1" dirty="0">
                <a:solidFill>
                  <a:srgbClr val="000000"/>
                </a:solidFill>
                <a:latin typeface="Times New Roman" panose="02020603050405020304" pitchFamily="18" charset="0"/>
                <a:ea typeface="Barlow Bold" pitchFamily="34" charset="-122"/>
                <a:cs typeface="Times New Roman" panose="02020603050405020304" pitchFamily="18" charset="0"/>
              </a:rPr>
              <a:t>2</a:t>
            </a:r>
            <a:endParaRPr lang="en-US" sz="1800" dirty="0"/>
          </a:p>
        </p:txBody>
      </p:sp>
      <p:sp>
        <p:nvSpPr>
          <p:cNvPr id="17" name="Text 10"/>
          <p:cNvSpPr/>
          <p:nvPr/>
        </p:nvSpPr>
        <p:spPr>
          <a:xfrm>
            <a:off x="5412224" y="4980503"/>
            <a:ext cx="2565678" cy="320635"/>
          </a:xfrm>
          <a:prstGeom prst="rect">
            <a:avLst/>
          </a:prstGeom>
          <a:noFill/>
          <a:ln/>
        </p:spPr>
        <p:txBody>
          <a:bodyPr wrap="none" lIns="0" tIns="0" rIns="0" bIns="0" rtlCol="0" anchor="t"/>
          <a:lstStyle/>
          <a:p>
            <a:pPr marL="0" indent="0" algn="l">
              <a:lnSpc>
                <a:spcPts val="2500"/>
              </a:lnSpc>
              <a:buNone/>
            </a:pPr>
            <a:r>
              <a:rPr lang="en-US" sz="2000" b="1" dirty="0">
                <a:solidFill>
                  <a:srgbClr val="384653"/>
                </a:solidFill>
                <a:latin typeface="Times New Roman" panose="02020603050405020304" pitchFamily="18" charset="0"/>
                <a:ea typeface="Barlow Bold" pitchFamily="34" charset="-122"/>
                <a:cs typeface="Times New Roman" panose="02020603050405020304" pitchFamily="18" charset="0"/>
              </a:rPr>
              <a:t>Project Objective</a:t>
            </a:r>
            <a:endParaRPr lang="en-US" sz="2000" dirty="0"/>
          </a:p>
        </p:txBody>
      </p:sp>
      <p:sp>
        <p:nvSpPr>
          <p:cNvPr id="18" name="Text 11"/>
          <p:cNvSpPr/>
          <p:nvPr/>
        </p:nvSpPr>
        <p:spPr>
          <a:xfrm>
            <a:off x="5412224" y="5418058"/>
            <a:ext cx="3805833" cy="1247775"/>
          </a:xfrm>
          <a:prstGeom prst="rect">
            <a:avLst/>
          </a:prstGeom>
          <a:noFill/>
          <a:ln/>
        </p:spPr>
        <p:txBody>
          <a:bodyPr wrap="square" lIns="0" tIns="0" rIns="0" bIns="0" rtlCol="0" anchor="t"/>
          <a:lstStyle/>
          <a:p>
            <a:pPr marL="0" indent="0" algn="l">
              <a:lnSpc>
                <a:spcPts val="2450"/>
              </a:lnSpc>
              <a:buNone/>
            </a:pPr>
            <a:r>
              <a:rPr lang="en-US" sz="1500" dirty="0">
                <a:solidFill>
                  <a:srgbClr val="384653"/>
                </a:solidFill>
                <a:latin typeface="Montserrat" pitchFamily="34" charset="0"/>
                <a:ea typeface="Montserrat" pitchFamily="34" charset="-122"/>
                <a:cs typeface="Montserrat" pitchFamily="34" charset="-120"/>
              </a:rPr>
              <a:t>To accurately predict product sales based on the allocated advertising budget across different media channels.</a:t>
            </a:r>
            <a:endParaRPr lang="en-US" sz="1500" dirty="0"/>
          </a:p>
        </p:txBody>
      </p:sp>
      <p:sp>
        <p:nvSpPr>
          <p:cNvPr id="19" name="Shape 12"/>
          <p:cNvSpPr/>
          <p:nvPr/>
        </p:nvSpPr>
        <p:spPr>
          <a:xfrm>
            <a:off x="9630728" y="4493062"/>
            <a:ext cx="4241244" cy="2907149"/>
          </a:xfrm>
          <a:prstGeom prst="roundRect">
            <a:avLst>
              <a:gd name="adj" fmla="val 3774"/>
            </a:avLst>
          </a:prstGeom>
          <a:solidFill>
            <a:srgbClr val="FFFFFF"/>
          </a:solidFill>
          <a:ln/>
        </p:spPr>
      </p:sp>
      <p:pic>
        <p:nvPicPr>
          <p:cNvPr id="20" name="Image 5" descr="preencoded.png"/>
          <p:cNvPicPr>
            <a:picLocks noChangeAspect="1"/>
          </p:cNvPicPr>
          <p:nvPr/>
        </p:nvPicPr>
        <p:blipFill>
          <a:blip r:embed="rId4"/>
          <a:stretch>
            <a:fillRect/>
          </a:stretch>
        </p:blipFill>
        <p:spPr>
          <a:xfrm>
            <a:off x="9630728" y="4470202"/>
            <a:ext cx="4241244" cy="91440"/>
          </a:xfrm>
          <a:prstGeom prst="rect">
            <a:avLst/>
          </a:prstGeom>
        </p:spPr>
      </p:pic>
      <p:pic>
        <p:nvPicPr>
          <p:cNvPr id="21" name="Image 6" descr="preencoded.png"/>
          <p:cNvPicPr>
            <a:picLocks noChangeAspect="1"/>
          </p:cNvPicPr>
          <p:nvPr/>
        </p:nvPicPr>
        <p:blipFill>
          <a:blip r:embed="rId5"/>
          <a:stretch>
            <a:fillRect/>
          </a:stretch>
        </p:blipFill>
        <p:spPr>
          <a:xfrm>
            <a:off x="11458873" y="4200644"/>
            <a:ext cx="584954" cy="584954"/>
          </a:xfrm>
          <a:prstGeom prst="rect">
            <a:avLst/>
          </a:prstGeom>
        </p:spPr>
      </p:pic>
      <p:sp>
        <p:nvSpPr>
          <p:cNvPr id="22" name="Text 13"/>
          <p:cNvSpPr/>
          <p:nvPr/>
        </p:nvSpPr>
        <p:spPr>
          <a:xfrm>
            <a:off x="11634371" y="4346853"/>
            <a:ext cx="233958" cy="292418"/>
          </a:xfrm>
          <a:prstGeom prst="rect">
            <a:avLst/>
          </a:prstGeom>
          <a:noFill/>
          <a:ln/>
        </p:spPr>
        <p:txBody>
          <a:bodyPr wrap="none" lIns="0" tIns="0" rIns="0" bIns="0" rtlCol="0" anchor="t"/>
          <a:lstStyle/>
          <a:p>
            <a:pPr marL="0" indent="0" algn="l">
              <a:lnSpc>
                <a:spcPts val="2900"/>
              </a:lnSpc>
              <a:buNone/>
            </a:pPr>
            <a:r>
              <a:rPr lang="en-US" sz="1800" b="1" dirty="0">
                <a:solidFill>
                  <a:srgbClr val="000000"/>
                </a:solidFill>
                <a:latin typeface="Times New Roman" panose="02020603050405020304" pitchFamily="18" charset="0"/>
                <a:ea typeface="Barlow Bold" pitchFamily="34" charset="-122"/>
                <a:cs typeface="Times New Roman" panose="02020603050405020304" pitchFamily="18" charset="0"/>
              </a:rPr>
              <a:t>3</a:t>
            </a:r>
            <a:endParaRPr lang="en-US" sz="1800" dirty="0"/>
          </a:p>
        </p:txBody>
      </p:sp>
      <p:sp>
        <p:nvSpPr>
          <p:cNvPr id="23" name="Text 14"/>
          <p:cNvSpPr/>
          <p:nvPr/>
        </p:nvSpPr>
        <p:spPr>
          <a:xfrm>
            <a:off x="9848493" y="4980503"/>
            <a:ext cx="2565678" cy="320635"/>
          </a:xfrm>
          <a:prstGeom prst="rect">
            <a:avLst/>
          </a:prstGeom>
          <a:noFill/>
          <a:ln/>
        </p:spPr>
        <p:txBody>
          <a:bodyPr wrap="none" lIns="0" tIns="0" rIns="0" bIns="0" rtlCol="0" anchor="t"/>
          <a:lstStyle/>
          <a:p>
            <a:pPr marL="0" indent="0" algn="l">
              <a:lnSpc>
                <a:spcPts val="2500"/>
              </a:lnSpc>
              <a:buNone/>
            </a:pPr>
            <a:r>
              <a:rPr lang="en-US" sz="2000" b="1" dirty="0">
                <a:solidFill>
                  <a:srgbClr val="384653"/>
                </a:solidFill>
                <a:latin typeface="Times New Roman" panose="02020603050405020304" pitchFamily="18" charset="0"/>
                <a:ea typeface="Barlow Bold" pitchFamily="34" charset="-122"/>
                <a:cs typeface="Times New Roman" panose="02020603050405020304" pitchFamily="18" charset="0"/>
              </a:rPr>
              <a:t>Feature Focus</a:t>
            </a:r>
            <a:endParaRPr lang="en-US" sz="2000" dirty="0"/>
          </a:p>
        </p:txBody>
      </p:sp>
      <p:sp>
        <p:nvSpPr>
          <p:cNvPr id="24" name="Text 15"/>
          <p:cNvSpPr/>
          <p:nvPr/>
        </p:nvSpPr>
        <p:spPr>
          <a:xfrm>
            <a:off x="9848493" y="5418058"/>
            <a:ext cx="3805714" cy="1247775"/>
          </a:xfrm>
          <a:prstGeom prst="rect">
            <a:avLst/>
          </a:prstGeom>
          <a:noFill/>
          <a:ln/>
        </p:spPr>
        <p:txBody>
          <a:bodyPr wrap="square" lIns="0" tIns="0" rIns="0" bIns="0" rtlCol="0" anchor="t"/>
          <a:lstStyle/>
          <a:p>
            <a:pPr marL="0" indent="0" algn="l">
              <a:lnSpc>
                <a:spcPts val="2450"/>
              </a:lnSpc>
              <a:buNone/>
            </a:pPr>
            <a:r>
              <a:rPr lang="en-US" sz="1500" dirty="0">
                <a:solidFill>
                  <a:srgbClr val="384653"/>
                </a:solidFill>
                <a:latin typeface="Montserrat" pitchFamily="34" charset="0"/>
                <a:ea typeface="Montserrat" pitchFamily="34" charset="-122"/>
                <a:cs typeface="Montserrat" pitchFamily="34" charset="-120"/>
              </a:rPr>
              <a:t>Analyzing the impact of traditional media (TV) versus more targeted approaches (Radio, Newspaper) on sales performance.</a:t>
            </a:r>
            <a:endParaRPr lang="en-US" sz="1500" dirty="0"/>
          </a:p>
        </p:txBody>
      </p:sp>
      <p:sp>
        <p:nvSpPr>
          <p:cNvPr id="25" name="Rectangle 24">
            <a:extLst>
              <a:ext uri="{FF2B5EF4-FFF2-40B4-BE49-F238E27FC236}">
                <a16:creationId xmlns:a16="http://schemas.microsoft.com/office/drawing/2014/main" id="{84102B37-F070-1831-0B6A-7F4FA17E66D2}"/>
              </a:ext>
            </a:extLst>
          </p:cNvPr>
          <p:cNvSpPr/>
          <p:nvPr/>
        </p:nvSpPr>
        <p:spPr>
          <a:xfrm>
            <a:off x="1" y="7781364"/>
            <a:ext cx="14630400" cy="448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8309" y="1283851"/>
            <a:ext cx="6847165"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Times New Roman" panose="02020603050405020304" pitchFamily="18" charset="0"/>
                <a:ea typeface="Barlow Bold" pitchFamily="34" charset="-122"/>
                <a:cs typeface="Times New Roman" panose="02020603050405020304" pitchFamily="18" charset="0"/>
              </a:rPr>
              <a:t>Average Advertising Spend</a:t>
            </a:r>
            <a:endParaRPr lang="en-US" sz="4450" dirty="0"/>
          </a:p>
        </p:txBody>
      </p:sp>
      <p:sp>
        <p:nvSpPr>
          <p:cNvPr id="3" name="Text 1"/>
          <p:cNvSpPr/>
          <p:nvPr/>
        </p:nvSpPr>
        <p:spPr>
          <a:xfrm>
            <a:off x="758309" y="2516386"/>
            <a:ext cx="7656790" cy="69342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Our analysis reveals that TV advertising commands the largest share of the overall marketing budget.</a:t>
            </a:r>
            <a:endParaRPr lang="en-US" sz="1700" dirty="0"/>
          </a:p>
        </p:txBody>
      </p:sp>
      <p:sp>
        <p:nvSpPr>
          <p:cNvPr id="4" name="Text 2"/>
          <p:cNvSpPr/>
          <p:nvPr/>
        </p:nvSpPr>
        <p:spPr>
          <a:xfrm>
            <a:off x="758309" y="3561755"/>
            <a:ext cx="7656790" cy="714970"/>
          </a:xfrm>
          <a:prstGeom prst="rect">
            <a:avLst/>
          </a:prstGeom>
          <a:noFill/>
          <a:ln/>
        </p:spPr>
        <p:txBody>
          <a:bodyPr wrap="none" lIns="0" tIns="0" rIns="0" bIns="0" rtlCol="0" anchor="t"/>
          <a:lstStyle/>
          <a:p>
            <a:pPr marL="0" indent="0" algn="ctr">
              <a:lnSpc>
                <a:spcPts val="5600"/>
              </a:lnSpc>
              <a:buNone/>
            </a:pPr>
            <a:r>
              <a:rPr lang="en-US" sz="5600" b="1" dirty="0">
                <a:solidFill>
                  <a:srgbClr val="384653"/>
                </a:solidFill>
                <a:latin typeface="Times New Roman" panose="02020603050405020304" pitchFamily="18" charset="0"/>
                <a:ea typeface="Barlow Bold" pitchFamily="34" charset="-122"/>
                <a:cs typeface="Times New Roman" panose="02020603050405020304" pitchFamily="18" charset="0"/>
              </a:rPr>
              <a:t>$147.04</a:t>
            </a:r>
            <a:endParaRPr lang="en-US" sz="5600" dirty="0"/>
          </a:p>
        </p:txBody>
      </p:sp>
      <p:sp>
        <p:nvSpPr>
          <p:cNvPr id="5" name="Text 3"/>
          <p:cNvSpPr/>
          <p:nvPr/>
        </p:nvSpPr>
        <p:spPr>
          <a:xfrm>
            <a:off x="3061097" y="4547354"/>
            <a:ext cx="3051096" cy="356235"/>
          </a:xfrm>
          <a:prstGeom prst="rect">
            <a:avLst/>
          </a:prstGeom>
          <a:noFill/>
          <a:ln/>
        </p:spPr>
        <p:txBody>
          <a:bodyPr wrap="none" lIns="0" tIns="0" rIns="0" bIns="0" rtlCol="0" anchor="t"/>
          <a:lstStyle/>
          <a:p>
            <a:pPr marL="0" indent="0" algn="ctr">
              <a:lnSpc>
                <a:spcPts val="2800"/>
              </a:lnSpc>
              <a:buNone/>
            </a:pPr>
            <a:r>
              <a:rPr lang="en-US" sz="2200" b="1" dirty="0">
                <a:solidFill>
                  <a:srgbClr val="384653"/>
                </a:solidFill>
                <a:latin typeface="Times New Roman" panose="02020603050405020304" pitchFamily="18" charset="0"/>
                <a:ea typeface="Barlow Bold" pitchFamily="34" charset="-122"/>
                <a:cs typeface="Times New Roman" panose="02020603050405020304" pitchFamily="18" charset="0"/>
              </a:rPr>
              <a:t>Average TV Expenditure</a:t>
            </a:r>
            <a:endParaRPr lang="en-US" sz="2200" dirty="0"/>
          </a:p>
        </p:txBody>
      </p:sp>
      <p:sp>
        <p:nvSpPr>
          <p:cNvPr id="6" name="Text 4"/>
          <p:cNvSpPr/>
          <p:nvPr/>
        </p:nvSpPr>
        <p:spPr>
          <a:xfrm>
            <a:off x="758309" y="5120164"/>
            <a:ext cx="7656790" cy="693420"/>
          </a:xfrm>
          <a:prstGeom prst="rect">
            <a:avLst/>
          </a:prstGeom>
          <a:noFill/>
          <a:ln/>
        </p:spPr>
        <p:txBody>
          <a:bodyPr wrap="square" lIns="0" tIns="0" rIns="0" bIns="0" rtlCol="0" anchor="t"/>
          <a:lstStyle/>
          <a:p>
            <a:pPr marL="0" indent="0" algn="ctr">
              <a:lnSpc>
                <a:spcPts val="2700"/>
              </a:lnSpc>
              <a:buNone/>
            </a:pPr>
            <a:r>
              <a:rPr lang="en-US" sz="1700" dirty="0">
                <a:solidFill>
                  <a:srgbClr val="384653"/>
                </a:solidFill>
                <a:latin typeface="Montserrat" pitchFamily="34" charset="0"/>
                <a:ea typeface="Montserrat" pitchFamily="34" charset="-122"/>
                <a:cs typeface="Montserrat" pitchFamily="34" charset="-120"/>
              </a:rPr>
              <a:t>This significant investment highlights television's perceived importance in reaching a broad audience.</a:t>
            </a:r>
            <a:endParaRPr lang="en-US" sz="1700" dirty="0"/>
          </a:p>
        </p:txBody>
      </p:sp>
      <p:sp>
        <p:nvSpPr>
          <p:cNvPr id="7" name="Text 5"/>
          <p:cNvSpPr/>
          <p:nvPr/>
        </p:nvSpPr>
        <p:spPr>
          <a:xfrm>
            <a:off x="758309" y="6057305"/>
            <a:ext cx="7656790" cy="69342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Understanding the distribution of advertising spend is crucial for optimizing future campaigns and resource allocation.</a:t>
            </a:r>
            <a:endParaRPr lang="en-US" sz="1700" dirty="0"/>
          </a:p>
        </p:txBody>
      </p:sp>
      <p:sp>
        <p:nvSpPr>
          <p:cNvPr id="8" name="Text 6"/>
          <p:cNvSpPr/>
          <p:nvPr/>
        </p:nvSpPr>
        <p:spPr>
          <a:xfrm>
            <a:off x="8951357" y="2516386"/>
            <a:ext cx="4928235" cy="346710"/>
          </a:xfrm>
          <a:prstGeom prst="rect">
            <a:avLst/>
          </a:prstGeom>
          <a:noFill/>
          <a:ln/>
        </p:spPr>
        <p:txBody>
          <a:bodyPr wrap="none" lIns="0" tIns="0" rIns="0" bIns="0" rtlCol="0" anchor="t"/>
          <a:lstStyle/>
          <a:p>
            <a:pPr marL="0" indent="0" algn="l">
              <a:lnSpc>
                <a:spcPts val="2700"/>
              </a:lnSpc>
              <a:buNone/>
            </a:pPr>
            <a:endParaRPr lang="en-US" sz="1700" dirty="0"/>
          </a:p>
        </p:txBody>
      </p:sp>
      <p:sp>
        <p:nvSpPr>
          <p:cNvPr id="9" name="Rectangle 8">
            <a:extLst>
              <a:ext uri="{FF2B5EF4-FFF2-40B4-BE49-F238E27FC236}">
                <a16:creationId xmlns:a16="http://schemas.microsoft.com/office/drawing/2014/main" id="{6896A2B4-6B38-3ED0-DC1E-4BBCCA758FF7}"/>
              </a:ext>
            </a:extLst>
          </p:cNvPr>
          <p:cNvSpPr/>
          <p:nvPr/>
        </p:nvSpPr>
        <p:spPr>
          <a:xfrm>
            <a:off x="1" y="7781364"/>
            <a:ext cx="14630400" cy="448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8309" y="1343382"/>
            <a:ext cx="9576673"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Times New Roman" panose="02020603050405020304" pitchFamily="18" charset="0"/>
                <a:ea typeface="Barlow Bold" pitchFamily="34" charset="-122"/>
                <a:cs typeface="Times New Roman" panose="02020603050405020304" pitchFamily="18" charset="0"/>
              </a:rPr>
              <a:t>Correlation Analysis: Unveiling Impact</a:t>
            </a:r>
            <a:endParaRPr lang="en-US" sz="4450" dirty="0"/>
          </a:p>
        </p:txBody>
      </p:sp>
      <p:sp>
        <p:nvSpPr>
          <p:cNvPr id="3" name="Text 1"/>
          <p:cNvSpPr/>
          <p:nvPr/>
        </p:nvSpPr>
        <p:spPr>
          <a:xfrm>
            <a:off x="758309" y="2489359"/>
            <a:ext cx="13113782" cy="69342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A deep dive into the correlation coefficients reveals the true drivers of sales performance across different advertising mediums.</a:t>
            </a:r>
            <a:endParaRPr lang="en-US" sz="1700" dirty="0"/>
          </a:p>
        </p:txBody>
      </p:sp>
      <p:sp>
        <p:nvSpPr>
          <p:cNvPr id="4" name="Shape 2"/>
          <p:cNvSpPr/>
          <p:nvPr/>
        </p:nvSpPr>
        <p:spPr>
          <a:xfrm>
            <a:off x="758309" y="3534728"/>
            <a:ext cx="3258264" cy="270748"/>
          </a:xfrm>
          <a:prstGeom prst="roundRect">
            <a:avLst>
              <a:gd name="adj" fmla="val 120035"/>
            </a:avLst>
          </a:prstGeom>
          <a:solidFill>
            <a:srgbClr val="D4E9F7"/>
          </a:solidFill>
          <a:ln w="7620">
            <a:solidFill>
              <a:srgbClr val="BACFDD"/>
            </a:solidFill>
            <a:prstDash val="solid"/>
          </a:ln>
        </p:spPr>
      </p:sp>
      <p:pic>
        <p:nvPicPr>
          <p:cNvPr id="5" name="Image 0" descr="preencoded.png"/>
          <p:cNvPicPr>
            <a:picLocks noChangeAspect="1"/>
          </p:cNvPicPr>
          <p:nvPr/>
        </p:nvPicPr>
        <p:blipFill>
          <a:blip r:embed="rId3"/>
          <a:stretch>
            <a:fillRect/>
          </a:stretch>
        </p:blipFill>
        <p:spPr>
          <a:xfrm>
            <a:off x="758309" y="3534728"/>
            <a:ext cx="3258264" cy="270748"/>
          </a:xfrm>
          <a:prstGeom prst="rect">
            <a:avLst/>
          </a:prstGeom>
        </p:spPr>
      </p:pic>
      <p:sp>
        <p:nvSpPr>
          <p:cNvPr id="6" name="Text 3"/>
          <p:cNvSpPr/>
          <p:nvPr/>
        </p:nvSpPr>
        <p:spPr>
          <a:xfrm>
            <a:off x="4178975" y="3534728"/>
            <a:ext cx="770096" cy="270748"/>
          </a:xfrm>
          <a:prstGeom prst="rect">
            <a:avLst/>
          </a:prstGeom>
          <a:noFill/>
          <a:ln/>
        </p:spPr>
        <p:txBody>
          <a:bodyPr wrap="none" lIns="0" tIns="0" rIns="0" bIns="0" rtlCol="0" anchor="t"/>
          <a:lstStyle/>
          <a:p>
            <a:pPr marL="0" indent="0" algn="l">
              <a:lnSpc>
                <a:spcPts val="2100"/>
              </a:lnSpc>
              <a:buNone/>
            </a:pPr>
            <a:r>
              <a:rPr lang="en-US" sz="2100" b="1" dirty="0">
                <a:solidFill>
                  <a:srgbClr val="384653"/>
                </a:solidFill>
                <a:latin typeface="Times New Roman" panose="02020603050405020304" pitchFamily="18" charset="0"/>
                <a:ea typeface="Barlow Bold" pitchFamily="34" charset="-122"/>
                <a:cs typeface="Times New Roman" panose="02020603050405020304" pitchFamily="18" charset="0"/>
              </a:rPr>
              <a:t>0.9012</a:t>
            </a:r>
            <a:endParaRPr lang="en-US" sz="2100" dirty="0"/>
          </a:p>
        </p:txBody>
      </p:sp>
      <p:sp>
        <p:nvSpPr>
          <p:cNvPr id="7" name="Text 4"/>
          <p:cNvSpPr/>
          <p:nvPr/>
        </p:nvSpPr>
        <p:spPr>
          <a:xfrm>
            <a:off x="758309" y="4076105"/>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Times New Roman" panose="02020603050405020304" pitchFamily="18" charset="0"/>
                <a:ea typeface="Barlow Bold" pitchFamily="34" charset="-122"/>
                <a:cs typeface="Times New Roman" panose="02020603050405020304" pitchFamily="18" charset="0"/>
              </a:rPr>
              <a:t>TV Correlation Index</a:t>
            </a:r>
            <a:endParaRPr lang="en-US" sz="2200" dirty="0"/>
          </a:p>
        </p:txBody>
      </p:sp>
      <p:sp>
        <p:nvSpPr>
          <p:cNvPr id="8" name="Text 5"/>
          <p:cNvSpPr/>
          <p:nvPr/>
        </p:nvSpPr>
        <p:spPr>
          <a:xfrm>
            <a:off x="758309" y="4562237"/>
            <a:ext cx="4190762" cy="138684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TV advertising demonstrates an exceptionally strong positive correlation with sales, indicating its dominant influence.</a:t>
            </a:r>
            <a:endParaRPr lang="en-US" sz="1700" dirty="0"/>
          </a:p>
        </p:txBody>
      </p:sp>
      <p:sp>
        <p:nvSpPr>
          <p:cNvPr id="9" name="Shape 6"/>
          <p:cNvSpPr/>
          <p:nvPr/>
        </p:nvSpPr>
        <p:spPr>
          <a:xfrm>
            <a:off x="5219819" y="3534728"/>
            <a:ext cx="3212783" cy="270748"/>
          </a:xfrm>
          <a:prstGeom prst="roundRect">
            <a:avLst>
              <a:gd name="adj" fmla="val 120035"/>
            </a:avLst>
          </a:prstGeom>
          <a:solidFill>
            <a:srgbClr val="D4E9F7"/>
          </a:solidFill>
          <a:ln w="7620">
            <a:solidFill>
              <a:srgbClr val="BACFDD"/>
            </a:solidFill>
            <a:prstDash val="solid"/>
          </a:ln>
        </p:spPr>
      </p:sp>
      <p:pic>
        <p:nvPicPr>
          <p:cNvPr id="10" name="Image 1" descr="preencoded.png"/>
          <p:cNvPicPr>
            <a:picLocks noChangeAspect="1"/>
          </p:cNvPicPr>
          <p:nvPr/>
        </p:nvPicPr>
        <p:blipFill>
          <a:blip r:embed="rId4"/>
          <a:stretch>
            <a:fillRect/>
          </a:stretch>
        </p:blipFill>
        <p:spPr>
          <a:xfrm>
            <a:off x="5219819" y="3534728"/>
            <a:ext cx="3212783" cy="270748"/>
          </a:xfrm>
          <a:prstGeom prst="rect">
            <a:avLst/>
          </a:prstGeom>
        </p:spPr>
      </p:pic>
      <p:sp>
        <p:nvSpPr>
          <p:cNvPr id="11" name="Text 7"/>
          <p:cNvSpPr/>
          <p:nvPr/>
        </p:nvSpPr>
        <p:spPr>
          <a:xfrm>
            <a:off x="8595003" y="3534728"/>
            <a:ext cx="815578" cy="270748"/>
          </a:xfrm>
          <a:prstGeom prst="rect">
            <a:avLst/>
          </a:prstGeom>
          <a:noFill/>
          <a:ln/>
        </p:spPr>
        <p:txBody>
          <a:bodyPr wrap="none" lIns="0" tIns="0" rIns="0" bIns="0" rtlCol="0" anchor="t"/>
          <a:lstStyle/>
          <a:p>
            <a:pPr marL="0" indent="0" algn="l">
              <a:lnSpc>
                <a:spcPts val="2100"/>
              </a:lnSpc>
              <a:buNone/>
            </a:pPr>
            <a:r>
              <a:rPr lang="en-US" sz="2100" b="1" dirty="0">
                <a:solidFill>
                  <a:srgbClr val="384653"/>
                </a:solidFill>
                <a:latin typeface="Times New Roman" panose="02020603050405020304" pitchFamily="18" charset="0"/>
                <a:ea typeface="Barlow Bold" pitchFamily="34" charset="-122"/>
                <a:cs typeface="Times New Roman" panose="02020603050405020304" pitchFamily="18" charset="0"/>
              </a:rPr>
              <a:t>0.3497</a:t>
            </a:r>
            <a:endParaRPr lang="en-US" sz="2100" dirty="0"/>
          </a:p>
        </p:txBody>
      </p:sp>
      <p:sp>
        <p:nvSpPr>
          <p:cNvPr id="12" name="Text 8"/>
          <p:cNvSpPr/>
          <p:nvPr/>
        </p:nvSpPr>
        <p:spPr>
          <a:xfrm>
            <a:off x="5219819" y="4076105"/>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Times New Roman" panose="02020603050405020304" pitchFamily="18" charset="0"/>
                <a:ea typeface="Barlow Bold" pitchFamily="34" charset="-122"/>
                <a:cs typeface="Times New Roman" panose="02020603050405020304" pitchFamily="18" charset="0"/>
              </a:rPr>
              <a:t>Radio vs. Sales</a:t>
            </a:r>
            <a:endParaRPr lang="en-US" sz="2200" dirty="0"/>
          </a:p>
        </p:txBody>
      </p:sp>
      <p:sp>
        <p:nvSpPr>
          <p:cNvPr id="13" name="Text 9"/>
          <p:cNvSpPr/>
          <p:nvPr/>
        </p:nvSpPr>
        <p:spPr>
          <a:xfrm>
            <a:off x="5219819" y="4562237"/>
            <a:ext cx="4190762" cy="104013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Radio advertising shows a moderate positive correlation, contributing to sales but to a lesser extent than TV.</a:t>
            </a:r>
            <a:endParaRPr lang="en-US" sz="1700" dirty="0"/>
          </a:p>
        </p:txBody>
      </p:sp>
      <p:sp>
        <p:nvSpPr>
          <p:cNvPr id="14" name="Shape 10"/>
          <p:cNvSpPr/>
          <p:nvPr/>
        </p:nvSpPr>
        <p:spPr>
          <a:xfrm>
            <a:off x="9681329" y="3534728"/>
            <a:ext cx="3215521" cy="270748"/>
          </a:xfrm>
          <a:prstGeom prst="roundRect">
            <a:avLst>
              <a:gd name="adj" fmla="val 120035"/>
            </a:avLst>
          </a:prstGeom>
          <a:solidFill>
            <a:srgbClr val="D4E9F7"/>
          </a:solidFill>
          <a:ln w="7620">
            <a:solidFill>
              <a:srgbClr val="BACFDD"/>
            </a:solidFill>
            <a:prstDash val="solid"/>
          </a:ln>
        </p:spPr>
      </p:sp>
      <p:pic>
        <p:nvPicPr>
          <p:cNvPr id="15" name="Image 2" descr="preencoded.png"/>
          <p:cNvPicPr>
            <a:picLocks noChangeAspect="1"/>
          </p:cNvPicPr>
          <p:nvPr/>
        </p:nvPicPr>
        <p:blipFill>
          <a:blip r:embed="rId4"/>
          <a:stretch>
            <a:fillRect/>
          </a:stretch>
        </p:blipFill>
        <p:spPr>
          <a:xfrm>
            <a:off x="9681329" y="3534728"/>
            <a:ext cx="3215521" cy="270748"/>
          </a:xfrm>
          <a:prstGeom prst="rect">
            <a:avLst/>
          </a:prstGeom>
        </p:spPr>
      </p:pic>
      <p:sp>
        <p:nvSpPr>
          <p:cNvPr id="16" name="Text 11"/>
          <p:cNvSpPr/>
          <p:nvPr/>
        </p:nvSpPr>
        <p:spPr>
          <a:xfrm>
            <a:off x="13059251" y="3534728"/>
            <a:ext cx="812840" cy="270748"/>
          </a:xfrm>
          <a:prstGeom prst="rect">
            <a:avLst/>
          </a:prstGeom>
          <a:noFill/>
          <a:ln/>
        </p:spPr>
        <p:txBody>
          <a:bodyPr wrap="none" lIns="0" tIns="0" rIns="0" bIns="0" rtlCol="0" anchor="t"/>
          <a:lstStyle/>
          <a:p>
            <a:pPr marL="0" indent="0" algn="l">
              <a:lnSpc>
                <a:spcPts val="2100"/>
              </a:lnSpc>
              <a:buNone/>
            </a:pPr>
            <a:r>
              <a:rPr lang="en-US" sz="2100" b="1" dirty="0">
                <a:solidFill>
                  <a:srgbClr val="384653"/>
                </a:solidFill>
                <a:latin typeface="Times New Roman" panose="02020603050405020304" pitchFamily="18" charset="0"/>
                <a:ea typeface="Barlow Bold" pitchFamily="34" charset="-122"/>
                <a:cs typeface="Times New Roman" panose="02020603050405020304" pitchFamily="18" charset="0"/>
              </a:rPr>
              <a:t>0.0863</a:t>
            </a:r>
            <a:endParaRPr lang="en-US" sz="2100" dirty="0"/>
          </a:p>
        </p:txBody>
      </p:sp>
      <p:sp>
        <p:nvSpPr>
          <p:cNvPr id="17" name="Text 12"/>
          <p:cNvSpPr/>
          <p:nvPr/>
        </p:nvSpPr>
        <p:spPr>
          <a:xfrm>
            <a:off x="9681329" y="4076105"/>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Times New Roman" panose="02020603050405020304" pitchFamily="18" charset="0"/>
                <a:ea typeface="Barlow Bold" pitchFamily="34" charset="-122"/>
                <a:cs typeface="Times New Roman" panose="02020603050405020304" pitchFamily="18" charset="0"/>
              </a:rPr>
              <a:t>Newspaper vs. Sales</a:t>
            </a:r>
            <a:endParaRPr lang="en-US" sz="2200" dirty="0"/>
          </a:p>
        </p:txBody>
      </p:sp>
      <p:sp>
        <p:nvSpPr>
          <p:cNvPr id="18" name="Text 13"/>
          <p:cNvSpPr/>
          <p:nvPr/>
        </p:nvSpPr>
        <p:spPr>
          <a:xfrm>
            <a:off x="9681329" y="4562237"/>
            <a:ext cx="4190762" cy="138684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Newspaper advertising exhibits a very weak correlation, suggesting a minimal direct impact on sales in this dataset.</a:t>
            </a:r>
            <a:endParaRPr lang="en-US" sz="1700" dirty="0"/>
          </a:p>
        </p:txBody>
      </p:sp>
      <p:sp>
        <p:nvSpPr>
          <p:cNvPr id="19" name="Text 14"/>
          <p:cNvSpPr/>
          <p:nvPr/>
        </p:nvSpPr>
        <p:spPr>
          <a:xfrm>
            <a:off x="758309" y="6192798"/>
            <a:ext cx="13113782" cy="69342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This analysis conclusively demonstrates that </a:t>
            </a:r>
            <a:r>
              <a:rPr lang="en-US" sz="1700" b="1" dirty="0">
                <a:solidFill>
                  <a:srgbClr val="2589C9"/>
                </a:solidFill>
                <a:latin typeface="Montserrat" pitchFamily="34" charset="0"/>
                <a:ea typeface="Montserrat" pitchFamily="34" charset="-122"/>
                <a:cs typeface="Montserrat" pitchFamily="34" charset="-120"/>
              </a:rPr>
              <a:t>TV spend is the strongest predictor of product sales</a:t>
            </a:r>
            <a:r>
              <a:rPr lang="en-US" sz="1700" dirty="0">
                <a:solidFill>
                  <a:srgbClr val="384653"/>
                </a:solidFill>
                <a:latin typeface="Montserrat" pitchFamily="34" charset="0"/>
                <a:ea typeface="Montserrat" pitchFamily="34" charset="-122"/>
                <a:cs typeface="Montserrat" pitchFamily="34" charset="-120"/>
              </a:rPr>
              <a:t>, making it a critical component of any successful advertising strategy.</a:t>
            </a:r>
            <a:endParaRPr lang="en-US" sz="1700" dirty="0"/>
          </a:p>
        </p:txBody>
      </p:sp>
      <p:sp>
        <p:nvSpPr>
          <p:cNvPr id="20" name="Rectangle 19">
            <a:extLst>
              <a:ext uri="{FF2B5EF4-FFF2-40B4-BE49-F238E27FC236}">
                <a16:creationId xmlns:a16="http://schemas.microsoft.com/office/drawing/2014/main" id="{387E2262-729C-4A32-D631-5223EE38ECA2}"/>
              </a:ext>
            </a:extLst>
          </p:cNvPr>
          <p:cNvSpPr/>
          <p:nvPr/>
        </p:nvSpPr>
        <p:spPr>
          <a:xfrm>
            <a:off x="1" y="7781364"/>
            <a:ext cx="14630400" cy="448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4737" y="594360"/>
            <a:ext cx="9973032" cy="603052"/>
          </a:xfrm>
          <a:prstGeom prst="rect">
            <a:avLst/>
          </a:prstGeom>
          <a:noFill/>
          <a:ln/>
        </p:spPr>
        <p:txBody>
          <a:bodyPr wrap="none" lIns="0" tIns="0" rIns="0" bIns="0" rtlCol="0" anchor="t"/>
          <a:lstStyle/>
          <a:p>
            <a:pPr marL="0" indent="0" algn="l">
              <a:lnSpc>
                <a:spcPts val="4700"/>
              </a:lnSpc>
              <a:buNone/>
            </a:pPr>
            <a:r>
              <a:rPr lang="en-US" sz="3750" b="1" dirty="0">
                <a:solidFill>
                  <a:srgbClr val="2E3C4E"/>
                </a:solidFill>
                <a:latin typeface="Times New Roman" panose="02020603050405020304" pitchFamily="18" charset="0"/>
                <a:ea typeface="Barlow Bold" pitchFamily="34" charset="-122"/>
                <a:cs typeface="Times New Roman" panose="02020603050405020304" pitchFamily="18" charset="0"/>
              </a:rPr>
              <a:t>Model Performance: Actual vs. Predicted Sales</a:t>
            </a:r>
            <a:endParaRPr lang="en-US" sz="3750" dirty="0"/>
          </a:p>
        </p:txBody>
      </p:sp>
      <p:sp>
        <p:nvSpPr>
          <p:cNvPr id="3" name="Text 1"/>
          <p:cNvSpPr/>
          <p:nvPr/>
        </p:nvSpPr>
        <p:spPr>
          <a:xfrm>
            <a:off x="754737" y="1472327"/>
            <a:ext cx="13120926" cy="293370"/>
          </a:xfrm>
          <a:prstGeom prst="rect">
            <a:avLst/>
          </a:prstGeom>
          <a:noFill/>
          <a:ln/>
        </p:spPr>
        <p:txBody>
          <a:bodyPr wrap="none" lIns="0" tIns="0" rIns="0" bIns="0" rtlCol="0" anchor="t"/>
          <a:lstStyle/>
          <a:p>
            <a:pPr marL="0" indent="0" algn="l">
              <a:lnSpc>
                <a:spcPts val="2300"/>
              </a:lnSpc>
              <a:buNone/>
            </a:pPr>
            <a:r>
              <a:rPr lang="en-US" sz="1400" dirty="0">
                <a:solidFill>
                  <a:srgbClr val="384653"/>
                </a:solidFill>
                <a:latin typeface="Montserrat" pitchFamily="34" charset="0"/>
                <a:ea typeface="Montserrat" pitchFamily="34" charset="-122"/>
                <a:cs typeface="Montserrat" pitchFamily="34" charset="-120"/>
              </a:rPr>
              <a:t>Our linear regression model demonstrates strong predictive capabilities, with predicted sales closely aligning with actual figures.</a:t>
            </a:r>
            <a:endParaRPr lang="en-US" sz="1400" dirty="0"/>
          </a:p>
        </p:txBody>
      </p:sp>
      <p:pic>
        <p:nvPicPr>
          <p:cNvPr id="4" name="Image 0" descr="preencoded.png"/>
          <p:cNvPicPr>
            <a:picLocks noChangeAspect="1"/>
          </p:cNvPicPr>
          <p:nvPr/>
        </p:nvPicPr>
        <p:blipFill>
          <a:blip r:embed="rId3"/>
          <a:stretch>
            <a:fillRect/>
          </a:stretch>
        </p:blipFill>
        <p:spPr>
          <a:xfrm>
            <a:off x="4748808" y="1971913"/>
            <a:ext cx="5132784" cy="4155519"/>
          </a:xfrm>
          <a:prstGeom prst="rect">
            <a:avLst/>
          </a:prstGeom>
        </p:spPr>
      </p:pic>
      <p:sp>
        <p:nvSpPr>
          <p:cNvPr id="5" name="Text 2"/>
          <p:cNvSpPr/>
          <p:nvPr/>
        </p:nvSpPr>
        <p:spPr>
          <a:xfrm>
            <a:off x="754737" y="6333649"/>
            <a:ext cx="13120926" cy="293370"/>
          </a:xfrm>
          <a:prstGeom prst="rect">
            <a:avLst/>
          </a:prstGeom>
          <a:noFill/>
          <a:ln/>
        </p:spPr>
        <p:txBody>
          <a:bodyPr wrap="none" lIns="0" tIns="0" rIns="0" bIns="0" rtlCol="0" anchor="t"/>
          <a:lstStyle/>
          <a:p>
            <a:pPr marL="342900" indent="-342900" algn="l">
              <a:lnSpc>
                <a:spcPts val="2300"/>
              </a:lnSpc>
              <a:buSzPct val="100000"/>
              <a:buChar char="•"/>
            </a:pPr>
            <a:r>
              <a:rPr lang="en-US" sz="1400" b="1" dirty="0">
                <a:solidFill>
                  <a:srgbClr val="384653"/>
                </a:solidFill>
                <a:latin typeface="Montserrat" pitchFamily="34" charset="0"/>
                <a:ea typeface="Montserrat" pitchFamily="34" charset="-122"/>
                <a:cs typeface="Montserrat" pitchFamily="34" charset="-120"/>
              </a:rPr>
              <a:t>Visualizing the model performance:</a:t>
            </a:r>
            <a:r>
              <a:rPr lang="en-US" sz="1400" dirty="0">
                <a:solidFill>
                  <a:srgbClr val="384653"/>
                </a:solidFill>
                <a:latin typeface="Montserrat" pitchFamily="34" charset="0"/>
                <a:ea typeface="Montserrat" pitchFamily="34" charset="-122"/>
                <a:cs typeface="Montserrat" pitchFamily="34" charset="-120"/>
              </a:rPr>
              <a:t> The scatter plot effectively illustrates the relationship between actual and predicted sales.</a:t>
            </a:r>
            <a:endParaRPr lang="en-US" sz="1400" dirty="0"/>
          </a:p>
        </p:txBody>
      </p:sp>
      <p:sp>
        <p:nvSpPr>
          <p:cNvPr id="6" name="Text 3"/>
          <p:cNvSpPr/>
          <p:nvPr/>
        </p:nvSpPr>
        <p:spPr>
          <a:xfrm>
            <a:off x="754737" y="6691074"/>
            <a:ext cx="13120926" cy="293370"/>
          </a:xfrm>
          <a:prstGeom prst="rect">
            <a:avLst/>
          </a:prstGeom>
          <a:noFill/>
          <a:ln/>
        </p:spPr>
        <p:txBody>
          <a:bodyPr wrap="none" lIns="0" tIns="0" rIns="0" bIns="0" rtlCol="0" anchor="t"/>
          <a:lstStyle/>
          <a:p>
            <a:pPr marL="342900" indent="-342900" algn="l">
              <a:lnSpc>
                <a:spcPts val="2300"/>
              </a:lnSpc>
              <a:buSzPct val="100000"/>
              <a:buChar char="•"/>
            </a:pPr>
            <a:r>
              <a:rPr lang="en-US" sz="1400" b="1" dirty="0">
                <a:solidFill>
                  <a:srgbClr val="384653"/>
                </a:solidFill>
                <a:latin typeface="Montserrat" pitchFamily="34" charset="0"/>
                <a:ea typeface="Montserrat" pitchFamily="34" charset="-122"/>
                <a:cs typeface="Montserrat" pitchFamily="34" charset="-120"/>
              </a:rPr>
              <a:t>Strong linear relationship:</a:t>
            </a:r>
            <a:r>
              <a:rPr lang="en-US" sz="1400" dirty="0">
                <a:solidFill>
                  <a:srgbClr val="384653"/>
                </a:solidFill>
                <a:latin typeface="Montserrat" pitchFamily="34" charset="0"/>
                <a:ea typeface="Montserrat" pitchFamily="34" charset="-122"/>
                <a:cs typeface="Montserrat" pitchFamily="34" charset="-120"/>
              </a:rPr>
              <a:t> The clear trend line indicates that the model has successfully captured the underlying patterns in the data.</a:t>
            </a:r>
            <a:endParaRPr lang="en-US" sz="1400" dirty="0"/>
          </a:p>
        </p:txBody>
      </p:sp>
      <p:sp>
        <p:nvSpPr>
          <p:cNvPr id="7" name="Text 4"/>
          <p:cNvSpPr/>
          <p:nvPr/>
        </p:nvSpPr>
        <p:spPr>
          <a:xfrm>
            <a:off x="754737" y="7048500"/>
            <a:ext cx="13120926" cy="586740"/>
          </a:xfrm>
          <a:prstGeom prst="rect">
            <a:avLst/>
          </a:prstGeom>
          <a:noFill/>
          <a:ln/>
        </p:spPr>
        <p:txBody>
          <a:bodyPr wrap="square" lIns="0" tIns="0" rIns="0" bIns="0" rtlCol="0" anchor="t"/>
          <a:lstStyle/>
          <a:p>
            <a:pPr marL="342900" indent="-342900" algn="l">
              <a:lnSpc>
                <a:spcPts val="2300"/>
              </a:lnSpc>
              <a:buSzPct val="100000"/>
              <a:buChar char="•"/>
            </a:pPr>
            <a:r>
              <a:rPr lang="en-US" sz="1400" b="1" dirty="0">
                <a:solidFill>
                  <a:srgbClr val="384653"/>
                </a:solidFill>
                <a:latin typeface="Montserrat" pitchFamily="34" charset="0"/>
                <a:ea typeface="Montserrat" pitchFamily="34" charset="-122"/>
                <a:cs typeface="Montserrat" pitchFamily="34" charset="-120"/>
              </a:rPr>
              <a:t>High clustering around the 'Perfect Fit' line:</a:t>
            </a:r>
            <a:r>
              <a:rPr lang="en-US" sz="1400" dirty="0">
                <a:solidFill>
                  <a:srgbClr val="384653"/>
                </a:solidFill>
                <a:latin typeface="Montserrat" pitchFamily="34" charset="0"/>
                <a:ea typeface="Montserrat" pitchFamily="34" charset="-122"/>
                <a:cs typeface="Montserrat" pitchFamily="34" charset="-120"/>
              </a:rPr>
              <a:t> The close proximity of data points to the ideal diagonal line underscores the model's accuracy and reliability.</a:t>
            </a:r>
            <a:endParaRPr lang="en-US" sz="1400" dirty="0"/>
          </a:p>
        </p:txBody>
      </p:sp>
      <p:sp>
        <p:nvSpPr>
          <p:cNvPr id="8" name="Rectangle 7">
            <a:extLst>
              <a:ext uri="{FF2B5EF4-FFF2-40B4-BE49-F238E27FC236}">
                <a16:creationId xmlns:a16="http://schemas.microsoft.com/office/drawing/2014/main" id="{8D971C3E-F5AC-E0D1-D78E-114DF99B5239}"/>
              </a:ext>
            </a:extLst>
          </p:cNvPr>
          <p:cNvSpPr/>
          <p:nvPr/>
        </p:nvSpPr>
        <p:spPr>
          <a:xfrm>
            <a:off x="1" y="7781364"/>
            <a:ext cx="14630400" cy="448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8309" y="942856"/>
            <a:ext cx="7307818"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Times New Roman" panose="02020603050405020304" pitchFamily="18" charset="0"/>
                <a:ea typeface="Barlow Bold" pitchFamily="34" charset="-122"/>
                <a:cs typeface="Times New Roman" panose="02020603050405020304" pitchFamily="18" charset="0"/>
              </a:rPr>
              <a:t>Building the Predictive Model</a:t>
            </a:r>
            <a:endParaRPr lang="en-US" sz="4450" dirty="0"/>
          </a:p>
        </p:txBody>
      </p:sp>
      <p:sp>
        <p:nvSpPr>
          <p:cNvPr id="3" name="Text 1"/>
          <p:cNvSpPr/>
          <p:nvPr/>
        </p:nvSpPr>
        <p:spPr>
          <a:xfrm>
            <a:off x="758309" y="2088833"/>
            <a:ext cx="13113782" cy="346710"/>
          </a:xfrm>
          <a:prstGeom prst="rect">
            <a:avLst/>
          </a:prstGeom>
          <a:noFill/>
          <a:ln/>
        </p:spPr>
        <p:txBody>
          <a:bodyPr wrap="non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To accurately forecast sales, we employed a robust statistical modeling approach.</a:t>
            </a:r>
            <a:endParaRPr lang="en-US" sz="1700" dirty="0"/>
          </a:p>
        </p:txBody>
      </p:sp>
      <p:sp>
        <p:nvSpPr>
          <p:cNvPr id="4" name="Text 2"/>
          <p:cNvSpPr/>
          <p:nvPr/>
        </p:nvSpPr>
        <p:spPr>
          <a:xfrm>
            <a:off x="758309" y="2679263"/>
            <a:ext cx="216575" cy="270748"/>
          </a:xfrm>
          <a:prstGeom prst="rect">
            <a:avLst/>
          </a:prstGeom>
          <a:noFill/>
          <a:ln/>
        </p:spPr>
        <p:txBody>
          <a:bodyPr wrap="none" lIns="0" tIns="0" rIns="0" bIns="0" rtlCol="0" anchor="t"/>
          <a:lstStyle/>
          <a:p>
            <a:pPr marL="0" indent="0" algn="l">
              <a:lnSpc>
                <a:spcPts val="2700"/>
              </a:lnSpc>
              <a:buNone/>
            </a:pPr>
            <a:r>
              <a:rPr lang="en-US" sz="1700" dirty="0">
                <a:solidFill>
                  <a:srgbClr val="384653"/>
                </a:solidFill>
                <a:latin typeface="Barlow Light" pitchFamily="34" charset="0"/>
                <a:ea typeface="Barlow Light" pitchFamily="34" charset="-122"/>
                <a:cs typeface="Barlow Light" pitchFamily="34" charset="-120"/>
              </a:rPr>
              <a:t>01</a:t>
            </a:r>
            <a:endParaRPr lang="en-US" sz="1700" dirty="0"/>
          </a:p>
        </p:txBody>
      </p:sp>
      <p:pic>
        <p:nvPicPr>
          <p:cNvPr id="5" name="Image 0" descr="preencoded.png"/>
          <p:cNvPicPr>
            <a:picLocks noChangeAspect="1"/>
          </p:cNvPicPr>
          <p:nvPr/>
        </p:nvPicPr>
        <p:blipFill>
          <a:blip r:embed="rId3"/>
          <a:stretch>
            <a:fillRect/>
          </a:stretch>
        </p:blipFill>
        <p:spPr>
          <a:xfrm>
            <a:off x="758309" y="3016806"/>
            <a:ext cx="6448544" cy="30480"/>
          </a:xfrm>
          <a:prstGeom prst="rect">
            <a:avLst/>
          </a:prstGeom>
        </p:spPr>
      </p:pic>
      <p:sp>
        <p:nvSpPr>
          <p:cNvPr id="6" name="Text 3"/>
          <p:cNvSpPr/>
          <p:nvPr/>
        </p:nvSpPr>
        <p:spPr>
          <a:xfrm>
            <a:off x="758309" y="3185993"/>
            <a:ext cx="4732734"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Times New Roman" panose="02020603050405020304" pitchFamily="18" charset="0"/>
                <a:ea typeface="Barlow Bold" pitchFamily="34" charset="-122"/>
                <a:cs typeface="Times New Roman" panose="02020603050405020304" pitchFamily="18" charset="0"/>
              </a:rPr>
              <a:t>Approach: Multiple Linear Regression</a:t>
            </a:r>
            <a:endParaRPr lang="en-US" sz="2200" dirty="0"/>
          </a:p>
        </p:txBody>
      </p:sp>
      <p:sp>
        <p:nvSpPr>
          <p:cNvPr id="7" name="Text 4"/>
          <p:cNvSpPr/>
          <p:nvPr/>
        </p:nvSpPr>
        <p:spPr>
          <a:xfrm>
            <a:off x="758309" y="3672126"/>
            <a:ext cx="6448544" cy="104013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Leveraging the power of multiple variables to predict sales, accounting for the combined influence of advertising channels.</a:t>
            </a:r>
            <a:endParaRPr lang="en-US" sz="1700" dirty="0"/>
          </a:p>
        </p:txBody>
      </p:sp>
      <p:sp>
        <p:nvSpPr>
          <p:cNvPr id="8" name="Text 5"/>
          <p:cNvSpPr/>
          <p:nvPr/>
        </p:nvSpPr>
        <p:spPr>
          <a:xfrm>
            <a:off x="7423428" y="2679263"/>
            <a:ext cx="216575" cy="270748"/>
          </a:xfrm>
          <a:prstGeom prst="rect">
            <a:avLst/>
          </a:prstGeom>
          <a:noFill/>
          <a:ln/>
        </p:spPr>
        <p:txBody>
          <a:bodyPr wrap="none" lIns="0" tIns="0" rIns="0" bIns="0" rtlCol="0" anchor="t"/>
          <a:lstStyle/>
          <a:p>
            <a:pPr marL="0" indent="0" algn="l">
              <a:lnSpc>
                <a:spcPts val="2700"/>
              </a:lnSpc>
              <a:buNone/>
            </a:pPr>
            <a:r>
              <a:rPr lang="en-US" sz="1700" dirty="0">
                <a:solidFill>
                  <a:srgbClr val="384653"/>
                </a:solidFill>
                <a:latin typeface="Barlow Light" pitchFamily="34" charset="0"/>
                <a:ea typeface="Barlow Light" pitchFamily="34" charset="-122"/>
                <a:cs typeface="Barlow Light" pitchFamily="34" charset="-120"/>
              </a:rPr>
              <a:t>02</a:t>
            </a:r>
            <a:endParaRPr lang="en-US" sz="1700" dirty="0"/>
          </a:p>
        </p:txBody>
      </p:sp>
      <p:pic>
        <p:nvPicPr>
          <p:cNvPr id="9" name="Image 1" descr="preencoded.png"/>
          <p:cNvPicPr>
            <a:picLocks noChangeAspect="1"/>
          </p:cNvPicPr>
          <p:nvPr/>
        </p:nvPicPr>
        <p:blipFill>
          <a:blip r:embed="rId3"/>
          <a:stretch>
            <a:fillRect/>
          </a:stretch>
        </p:blipFill>
        <p:spPr>
          <a:xfrm>
            <a:off x="7423428" y="3016806"/>
            <a:ext cx="6448663" cy="30480"/>
          </a:xfrm>
          <a:prstGeom prst="rect">
            <a:avLst/>
          </a:prstGeom>
        </p:spPr>
      </p:pic>
      <p:sp>
        <p:nvSpPr>
          <p:cNvPr id="10" name="Text 6"/>
          <p:cNvSpPr/>
          <p:nvPr/>
        </p:nvSpPr>
        <p:spPr>
          <a:xfrm>
            <a:off x="7423428" y="3185993"/>
            <a:ext cx="4695706"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Times New Roman" panose="02020603050405020304" pitchFamily="18" charset="0"/>
                <a:ea typeface="Barlow Bold" pitchFamily="34" charset="-122"/>
                <a:cs typeface="Times New Roman" panose="02020603050405020304" pitchFamily="18" charset="0"/>
              </a:rPr>
              <a:t>Data Split: 80% Training, 20% Testing</a:t>
            </a:r>
            <a:endParaRPr lang="en-US" sz="2200" dirty="0"/>
          </a:p>
        </p:txBody>
      </p:sp>
      <p:sp>
        <p:nvSpPr>
          <p:cNvPr id="11" name="Text 7"/>
          <p:cNvSpPr/>
          <p:nvPr/>
        </p:nvSpPr>
        <p:spPr>
          <a:xfrm>
            <a:off x="7423428" y="3672126"/>
            <a:ext cx="6448663" cy="104013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Ensuring the model is trained on a substantial portion of the data while reserving a distinct set for unbiased performance evaluation.</a:t>
            </a:r>
            <a:endParaRPr lang="en-US" sz="1700" dirty="0"/>
          </a:p>
        </p:txBody>
      </p:sp>
      <p:sp>
        <p:nvSpPr>
          <p:cNvPr id="12" name="Text 8"/>
          <p:cNvSpPr/>
          <p:nvPr/>
        </p:nvSpPr>
        <p:spPr>
          <a:xfrm>
            <a:off x="758309" y="5091232"/>
            <a:ext cx="216575" cy="270748"/>
          </a:xfrm>
          <a:prstGeom prst="rect">
            <a:avLst/>
          </a:prstGeom>
          <a:noFill/>
          <a:ln/>
        </p:spPr>
        <p:txBody>
          <a:bodyPr wrap="none" lIns="0" tIns="0" rIns="0" bIns="0" rtlCol="0" anchor="t"/>
          <a:lstStyle/>
          <a:p>
            <a:pPr marL="0" indent="0" algn="l">
              <a:lnSpc>
                <a:spcPts val="2700"/>
              </a:lnSpc>
              <a:buNone/>
            </a:pPr>
            <a:r>
              <a:rPr lang="en-US" sz="1700" dirty="0">
                <a:solidFill>
                  <a:srgbClr val="384653"/>
                </a:solidFill>
                <a:latin typeface="Barlow Light" pitchFamily="34" charset="0"/>
                <a:ea typeface="Barlow Light" pitchFamily="34" charset="-122"/>
                <a:cs typeface="Barlow Light" pitchFamily="34" charset="-120"/>
              </a:rPr>
              <a:t>03</a:t>
            </a:r>
            <a:endParaRPr lang="en-US" sz="1700" dirty="0"/>
          </a:p>
        </p:txBody>
      </p:sp>
      <p:pic>
        <p:nvPicPr>
          <p:cNvPr id="13" name="Image 2" descr="preencoded.png"/>
          <p:cNvPicPr>
            <a:picLocks noChangeAspect="1"/>
          </p:cNvPicPr>
          <p:nvPr/>
        </p:nvPicPr>
        <p:blipFill>
          <a:blip r:embed="rId3"/>
          <a:stretch>
            <a:fillRect/>
          </a:stretch>
        </p:blipFill>
        <p:spPr>
          <a:xfrm>
            <a:off x="758309" y="5407223"/>
            <a:ext cx="6448544" cy="30480"/>
          </a:xfrm>
          <a:prstGeom prst="rect">
            <a:avLst/>
          </a:prstGeom>
        </p:spPr>
      </p:pic>
      <p:sp>
        <p:nvSpPr>
          <p:cNvPr id="14" name="Text 9"/>
          <p:cNvSpPr/>
          <p:nvPr/>
        </p:nvSpPr>
        <p:spPr>
          <a:xfrm>
            <a:off x="758309" y="5597962"/>
            <a:ext cx="5696426"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Times New Roman" panose="02020603050405020304" pitchFamily="18" charset="0"/>
                <a:ea typeface="Barlow Bold" pitchFamily="34" charset="-122"/>
                <a:cs typeface="Times New Roman" panose="02020603050405020304" pitchFamily="18" charset="0"/>
              </a:rPr>
              <a:t>Preprocessing: Imputation for Missing Values</a:t>
            </a:r>
            <a:endParaRPr lang="en-US" sz="2200" dirty="0"/>
          </a:p>
        </p:txBody>
      </p:sp>
      <p:sp>
        <p:nvSpPr>
          <p:cNvPr id="15" name="Text 10"/>
          <p:cNvSpPr/>
          <p:nvPr/>
        </p:nvSpPr>
        <p:spPr>
          <a:xfrm>
            <a:off x="758309" y="6084094"/>
            <a:ext cx="6448544" cy="69342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Addressing data incompleteness by filling in gaps to maintain dataset integrity and model accuracy.</a:t>
            </a:r>
            <a:endParaRPr lang="en-US" sz="1700" dirty="0"/>
          </a:p>
        </p:txBody>
      </p:sp>
      <p:sp>
        <p:nvSpPr>
          <p:cNvPr id="16" name="Text 11"/>
          <p:cNvSpPr/>
          <p:nvPr/>
        </p:nvSpPr>
        <p:spPr>
          <a:xfrm>
            <a:off x="7423428" y="5091232"/>
            <a:ext cx="216575" cy="270748"/>
          </a:xfrm>
          <a:prstGeom prst="rect">
            <a:avLst/>
          </a:prstGeom>
          <a:noFill/>
          <a:ln/>
        </p:spPr>
        <p:txBody>
          <a:bodyPr wrap="none" lIns="0" tIns="0" rIns="0" bIns="0" rtlCol="0" anchor="t"/>
          <a:lstStyle/>
          <a:p>
            <a:pPr marL="0" indent="0" algn="l">
              <a:lnSpc>
                <a:spcPts val="2700"/>
              </a:lnSpc>
              <a:buNone/>
            </a:pPr>
            <a:r>
              <a:rPr lang="en-US" sz="1700" dirty="0">
                <a:solidFill>
                  <a:srgbClr val="384653"/>
                </a:solidFill>
                <a:latin typeface="Barlow Light" pitchFamily="34" charset="0"/>
                <a:ea typeface="Barlow Light" pitchFamily="34" charset="-122"/>
                <a:cs typeface="Barlow Light" pitchFamily="34" charset="-120"/>
              </a:rPr>
              <a:t>04</a:t>
            </a:r>
            <a:endParaRPr lang="en-US" sz="1700" dirty="0"/>
          </a:p>
        </p:txBody>
      </p:sp>
      <p:pic>
        <p:nvPicPr>
          <p:cNvPr id="17" name="Image 3" descr="preencoded.png"/>
          <p:cNvPicPr>
            <a:picLocks noChangeAspect="1"/>
          </p:cNvPicPr>
          <p:nvPr/>
        </p:nvPicPr>
        <p:blipFill>
          <a:blip r:embed="rId3"/>
          <a:stretch>
            <a:fillRect/>
          </a:stretch>
        </p:blipFill>
        <p:spPr>
          <a:xfrm>
            <a:off x="7423428" y="5407223"/>
            <a:ext cx="6448663" cy="30480"/>
          </a:xfrm>
          <a:prstGeom prst="rect">
            <a:avLst/>
          </a:prstGeom>
        </p:spPr>
      </p:pic>
      <p:sp>
        <p:nvSpPr>
          <p:cNvPr id="18" name="Text 12"/>
          <p:cNvSpPr/>
          <p:nvPr/>
        </p:nvSpPr>
        <p:spPr>
          <a:xfrm>
            <a:off x="7423428" y="5597962"/>
            <a:ext cx="4125992"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Times New Roman" panose="02020603050405020304" pitchFamily="18" charset="0"/>
                <a:ea typeface="Barlow Bold" pitchFamily="34" charset="-122"/>
                <a:cs typeface="Times New Roman" panose="02020603050405020304" pitchFamily="18" charset="0"/>
              </a:rPr>
              <a:t>Feature Scaling: Standardization</a:t>
            </a:r>
            <a:endParaRPr lang="en-US" sz="2200" dirty="0"/>
          </a:p>
        </p:txBody>
      </p:sp>
      <p:sp>
        <p:nvSpPr>
          <p:cNvPr id="19" name="Text 13"/>
          <p:cNvSpPr/>
          <p:nvPr/>
        </p:nvSpPr>
        <p:spPr>
          <a:xfrm>
            <a:off x="7423428" y="6084094"/>
            <a:ext cx="6448663" cy="104013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Transforming features to a common scale to prevent any single variable from disproportionately influencing the model due to its magnitude.</a:t>
            </a:r>
            <a:endParaRPr lang="en-US" sz="1700" dirty="0"/>
          </a:p>
        </p:txBody>
      </p:sp>
      <p:sp>
        <p:nvSpPr>
          <p:cNvPr id="20" name="Rectangle 19">
            <a:extLst>
              <a:ext uri="{FF2B5EF4-FFF2-40B4-BE49-F238E27FC236}">
                <a16:creationId xmlns:a16="http://schemas.microsoft.com/office/drawing/2014/main" id="{7D56D1DD-14F3-7F6A-79EA-57AD4F8F5AD6}"/>
              </a:ext>
            </a:extLst>
          </p:cNvPr>
          <p:cNvSpPr/>
          <p:nvPr/>
        </p:nvSpPr>
        <p:spPr>
          <a:xfrm>
            <a:off x="1" y="7781364"/>
            <a:ext cx="14630400" cy="448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8309" y="1390888"/>
            <a:ext cx="8041958" cy="641390"/>
          </a:xfrm>
          <a:prstGeom prst="rect">
            <a:avLst/>
          </a:prstGeom>
          <a:noFill/>
          <a:ln/>
        </p:spPr>
        <p:txBody>
          <a:bodyPr wrap="none" lIns="0" tIns="0" rIns="0" bIns="0" rtlCol="0" anchor="t"/>
          <a:lstStyle/>
          <a:p>
            <a:pPr marL="0" indent="0" algn="l">
              <a:lnSpc>
                <a:spcPts val="5050"/>
              </a:lnSpc>
              <a:buNone/>
            </a:pPr>
            <a:r>
              <a:rPr lang="en-US" sz="4000" b="1" dirty="0">
                <a:solidFill>
                  <a:srgbClr val="2E3C4E"/>
                </a:solidFill>
                <a:latin typeface="Times New Roman" panose="02020603050405020304" pitchFamily="18" charset="0"/>
                <a:ea typeface="Barlow Bold" pitchFamily="34" charset="-122"/>
                <a:cs typeface="Times New Roman" panose="02020603050405020304" pitchFamily="18" charset="0"/>
              </a:rPr>
              <a:t>Predicting New Scenarios: What if?</a:t>
            </a:r>
            <a:endParaRPr lang="en-US" sz="4000" dirty="0"/>
          </a:p>
        </p:txBody>
      </p:sp>
      <p:sp>
        <p:nvSpPr>
          <p:cNvPr id="3" name="Text 1"/>
          <p:cNvSpPr/>
          <p:nvPr/>
        </p:nvSpPr>
        <p:spPr>
          <a:xfrm>
            <a:off x="758309" y="2422208"/>
            <a:ext cx="13113782" cy="623887"/>
          </a:xfrm>
          <a:prstGeom prst="rect">
            <a:avLst/>
          </a:prstGeom>
          <a:noFill/>
          <a:ln/>
        </p:spPr>
        <p:txBody>
          <a:bodyPr wrap="square" lIns="0" tIns="0" rIns="0" bIns="0" rtlCol="0" anchor="t"/>
          <a:lstStyle/>
          <a:p>
            <a:pPr marL="0" indent="0" algn="l">
              <a:lnSpc>
                <a:spcPts val="2450"/>
              </a:lnSpc>
              <a:buNone/>
            </a:pPr>
            <a:r>
              <a:rPr lang="en-US" sz="1500" dirty="0">
                <a:solidFill>
                  <a:srgbClr val="384653"/>
                </a:solidFill>
                <a:latin typeface="Montserrat" pitchFamily="34" charset="0"/>
                <a:ea typeface="Montserrat" pitchFamily="34" charset="-122"/>
                <a:cs typeface="Montserrat" pitchFamily="34" charset="-120"/>
              </a:rPr>
              <a:t>Leveraging our trained model, we can now simulate sales outcomes for hypothetical advertising investments, providing actionable insights for strategic planning.</a:t>
            </a:r>
            <a:endParaRPr lang="en-US" sz="1500" dirty="0"/>
          </a:p>
        </p:txBody>
      </p:sp>
      <p:sp>
        <p:nvSpPr>
          <p:cNvPr id="4" name="Shape 2"/>
          <p:cNvSpPr/>
          <p:nvPr/>
        </p:nvSpPr>
        <p:spPr>
          <a:xfrm>
            <a:off x="758309" y="3484721"/>
            <a:ext cx="6319004" cy="2023348"/>
          </a:xfrm>
          <a:prstGeom prst="roundRect">
            <a:avLst>
              <a:gd name="adj" fmla="val 14456"/>
            </a:avLst>
          </a:prstGeom>
          <a:solidFill>
            <a:srgbClr val="FFFFFF"/>
          </a:solidFill>
          <a:ln w="22860">
            <a:solidFill>
              <a:srgbClr val="BACFDD"/>
            </a:solidFill>
            <a:prstDash val="solid"/>
          </a:ln>
        </p:spPr>
      </p:sp>
      <p:sp>
        <p:nvSpPr>
          <p:cNvPr id="5" name="Text 3"/>
          <p:cNvSpPr/>
          <p:nvPr/>
        </p:nvSpPr>
        <p:spPr>
          <a:xfrm>
            <a:off x="976074" y="3702487"/>
            <a:ext cx="2565678" cy="320635"/>
          </a:xfrm>
          <a:prstGeom prst="rect">
            <a:avLst/>
          </a:prstGeom>
          <a:noFill/>
          <a:ln/>
        </p:spPr>
        <p:txBody>
          <a:bodyPr wrap="none" lIns="0" tIns="0" rIns="0" bIns="0" rtlCol="0" anchor="t"/>
          <a:lstStyle/>
          <a:p>
            <a:pPr marL="0" indent="0" algn="l">
              <a:lnSpc>
                <a:spcPts val="2500"/>
              </a:lnSpc>
              <a:buNone/>
            </a:pPr>
            <a:r>
              <a:rPr lang="en-US" sz="2000" b="1" dirty="0">
                <a:solidFill>
                  <a:srgbClr val="384653"/>
                </a:solidFill>
                <a:latin typeface="Times New Roman" panose="02020603050405020304" pitchFamily="18" charset="0"/>
                <a:ea typeface="Barlow Bold" pitchFamily="34" charset="-122"/>
                <a:cs typeface="Times New Roman" panose="02020603050405020304" pitchFamily="18" charset="0"/>
              </a:rPr>
              <a:t>New Scenario Input</a:t>
            </a:r>
            <a:endParaRPr lang="en-US" sz="2000" dirty="0"/>
          </a:p>
        </p:txBody>
      </p:sp>
      <p:sp>
        <p:nvSpPr>
          <p:cNvPr id="6" name="Text 4"/>
          <p:cNvSpPr/>
          <p:nvPr/>
        </p:nvSpPr>
        <p:spPr>
          <a:xfrm>
            <a:off x="976074" y="4218027"/>
            <a:ext cx="5883473" cy="311944"/>
          </a:xfrm>
          <a:prstGeom prst="rect">
            <a:avLst/>
          </a:prstGeom>
          <a:noFill/>
          <a:ln/>
        </p:spPr>
        <p:txBody>
          <a:bodyPr wrap="none" lIns="0" tIns="0" rIns="0" bIns="0" rtlCol="0" anchor="t"/>
          <a:lstStyle/>
          <a:p>
            <a:pPr marL="342900" indent="-342900" algn="l">
              <a:lnSpc>
                <a:spcPts val="2450"/>
              </a:lnSpc>
              <a:buSzPct val="100000"/>
              <a:buChar char="•"/>
            </a:pPr>
            <a:r>
              <a:rPr lang="en-US" sz="1500" dirty="0">
                <a:solidFill>
                  <a:srgbClr val="384653"/>
                </a:solidFill>
                <a:latin typeface="Montserrat" pitchFamily="34" charset="0"/>
                <a:ea typeface="Montserrat" pitchFamily="34" charset="-122"/>
                <a:cs typeface="Montserrat" pitchFamily="34" charset="-120"/>
              </a:rPr>
              <a:t>TV: </a:t>
            </a:r>
            <a:r>
              <a:rPr lang="en-US" sz="1500" b="1" dirty="0">
                <a:solidFill>
                  <a:srgbClr val="384653"/>
                </a:solidFill>
                <a:latin typeface="Montserrat" pitchFamily="34" charset="0"/>
                <a:ea typeface="Montserrat" pitchFamily="34" charset="-122"/>
                <a:cs typeface="Montserrat" pitchFamily="34" charset="-120"/>
              </a:rPr>
              <a:t>$200</a:t>
            </a:r>
            <a:endParaRPr lang="en-US" sz="1500" dirty="0"/>
          </a:p>
        </p:txBody>
      </p:sp>
      <p:sp>
        <p:nvSpPr>
          <p:cNvPr id="7" name="Text 5"/>
          <p:cNvSpPr/>
          <p:nvPr/>
        </p:nvSpPr>
        <p:spPr>
          <a:xfrm>
            <a:off x="976074" y="4598194"/>
            <a:ext cx="5883473" cy="311944"/>
          </a:xfrm>
          <a:prstGeom prst="rect">
            <a:avLst/>
          </a:prstGeom>
          <a:noFill/>
          <a:ln/>
        </p:spPr>
        <p:txBody>
          <a:bodyPr wrap="none" lIns="0" tIns="0" rIns="0" bIns="0" rtlCol="0" anchor="t"/>
          <a:lstStyle/>
          <a:p>
            <a:pPr marL="342900" indent="-342900" algn="l">
              <a:lnSpc>
                <a:spcPts val="2450"/>
              </a:lnSpc>
              <a:buSzPct val="100000"/>
              <a:buChar char="•"/>
            </a:pPr>
            <a:r>
              <a:rPr lang="en-US" sz="1500" dirty="0">
                <a:solidFill>
                  <a:srgbClr val="384653"/>
                </a:solidFill>
                <a:latin typeface="Montserrat" pitchFamily="34" charset="0"/>
                <a:ea typeface="Montserrat" pitchFamily="34" charset="-122"/>
                <a:cs typeface="Montserrat" pitchFamily="34" charset="-120"/>
              </a:rPr>
              <a:t>Radio: </a:t>
            </a:r>
            <a:r>
              <a:rPr lang="en-US" sz="1500" b="1" dirty="0">
                <a:solidFill>
                  <a:srgbClr val="384653"/>
                </a:solidFill>
                <a:latin typeface="Montserrat" pitchFamily="34" charset="0"/>
                <a:ea typeface="Montserrat" pitchFamily="34" charset="-122"/>
                <a:cs typeface="Montserrat" pitchFamily="34" charset="-120"/>
              </a:rPr>
              <a:t>$40</a:t>
            </a:r>
            <a:endParaRPr lang="en-US" sz="1500" dirty="0"/>
          </a:p>
        </p:txBody>
      </p:sp>
      <p:sp>
        <p:nvSpPr>
          <p:cNvPr id="8" name="Text 6"/>
          <p:cNvSpPr/>
          <p:nvPr/>
        </p:nvSpPr>
        <p:spPr>
          <a:xfrm>
            <a:off x="976074" y="4978360"/>
            <a:ext cx="5883473" cy="311944"/>
          </a:xfrm>
          <a:prstGeom prst="rect">
            <a:avLst/>
          </a:prstGeom>
          <a:noFill/>
          <a:ln/>
        </p:spPr>
        <p:txBody>
          <a:bodyPr wrap="none" lIns="0" tIns="0" rIns="0" bIns="0" rtlCol="0" anchor="t"/>
          <a:lstStyle/>
          <a:p>
            <a:pPr marL="342900" indent="-342900" algn="l">
              <a:lnSpc>
                <a:spcPts val="2450"/>
              </a:lnSpc>
              <a:buSzPct val="100000"/>
              <a:buChar char="•"/>
            </a:pPr>
            <a:r>
              <a:rPr lang="en-US" sz="1500" dirty="0">
                <a:solidFill>
                  <a:srgbClr val="384653"/>
                </a:solidFill>
                <a:latin typeface="Montserrat" pitchFamily="34" charset="0"/>
                <a:ea typeface="Montserrat" pitchFamily="34" charset="-122"/>
                <a:cs typeface="Montserrat" pitchFamily="34" charset="-120"/>
              </a:rPr>
              <a:t>Newspaper: </a:t>
            </a:r>
            <a:r>
              <a:rPr lang="en-US" sz="1500" b="1" dirty="0">
                <a:solidFill>
                  <a:srgbClr val="384653"/>
                </a:solidFill>
                <a:latin typeface="Montserrat" pitchFamily="34" charset="0"/>
                <a:ea typeface="Montserrat" pitchFamily="34" charset="-122"/>
                <a:cs typeface="Montserrat" pitchFamily="34" charset="-120"/>
              </a:rPr>
              <a:t>$50</a:t>
            </a:r>
            <a:endParaRPr lang="en-US" sz="1500" dirty="0"/>
          </a:p>
        </p:txBody>
      </p:sp>
      <p:sp>
        <p:nvSpPr>
          <p:cNvPr id="9" name="Text 7"/>
          <p:cNvSpPr/>
          <p:nvPr/>
        </p:nvSpPr>
        <p:spPr>
          <a:xfrm>
            <a:off x="758309" y="5727383"/>
            <a:ext cx="6319004" cy="935831"/>
          </a:xfrm>
          <a:prstGeom prst="rect">
            <a:avLst/>
          </a:prstGeom>
          <a:noFill/>
          <a:ln/>
        </p:spPr>
        <p:txBody>
          <a:bodyPr wrap="square" lIns="0" tIns="0" rIns="0" bIns="0" rtlCol="0" anchor="t"/>
          <a:lstStyle/>
          <a:p>
            <a:pPr marL="0" indent="0" algn="l">
              <a:lnSpc>
                <a:spcPts val="2450"/>
              </a:lnSpc>
              <a:buNone/>
            </a:pPr>
            <a:r>
              <a:rPr lang="en-US" sz="1500" dirty="0">
                <a:solidFill>
                  <a:srgbClr val="384653"/>
                </a:solidFill>
                <a:latin typeface="Montserrat" pitchFamily="34" charset="0"/>
                <a:ea typeface="Montserrat" pitchFamily="34" charset="-122"/>
                <a:cs typeface="Montserrat" pitchFamily="34" charset="-120"/>
              </a:rPr>
              <a:t>By adjusting these input values, businesses can explore various advertising strategies and their potential impact on sales before committing resources.</a:t>
            </a:r>
            <a:endParaRPr lang="en-US" sz="1500" dirty="0"/>
          </a:p>
        </p:txBody>
      </p:sp>
      <p:sp>
        <p:nvSpPr>
          <p:cNvPr id="10" name="Shape 8"/>
          <p:cNvSpPr/>
          <p:nvPr/>
        </p:nvSpPr>
        <p:spPr>
          <a:xfrm>
            <a:off x="7560707" y="3484721"/>
            <a:ext cx="6319004" cy="3086457"/>
          </a:xfrm>
          <a:prstGeom prst="roundRect">
            <a:avLst>
              <a:gd name="adj" fmla="val 9477"/>
            </a:avLst>
          </a:prstGeom>
          <a:solidFill>
            <a:srgbClr val="D4E9F7"/>
          </a:solidFill>
          <a:ln w="7620">
            <a:solidFill>
              <a:srgbClr val="BACFDD"/>
            </a:solidFill>
            <a:prstDash val="solid"/>
          </a:ln>
        </p:spPr>
      </p:sp>
      <p:sp>
        <p:nvSpPr>
          <p:cNvPr id="11" name="Text 9"/>
          <p:cNvSpPr/>
          <p:nvPr/>
        </p:nvSpPr>
        <p:spPr>
          <a:xfrm>
            <a:off x="7763232" y="3687247"/>
            <a:ext cx="3078837" cy="384810"/>
          </a:xfrm>
          <a:prstGeom prst="rect">
            <a:avLst/>
          </a:prstGeom>
          <a:noFill/>
          <a:ln/>
        </p:spPr>
        <p:txBody>
          <a:bodyPr wrap="none" lIns="0" tIns="0" rIns="0" bIns="0" rtlCol="0" anchor="t"/>
          <a:lstStyle/>
          <a:p>
            <a:pPr marL="0" indent="0" algn="l">
              <a:lnSpc>
                <a:spcPts val="3000"/>
              </a:lnSpc>
              <a:buNone/>
            </a:pPr>
            <a:r>
              <a:rPr lang="en-US" sz="2400" b="1" dirty="0">
                <a:solidFill>
                  <a:srgbClr val="384653"/>
                </a:solidFill>
                <a:latin typeface="Times New Roman" panose="02020603050405020304" pitchFamily="18" charset="0"/>
                <a:ea typeface="Barlow Bold" pitchFamily="34" charset="-122"/>
                <a:cs typeface="Times New Roman" panose="02020603050405020304" pitchFamily="18" charset="0"/>
              </a:rPr>
              <a:t>Predicted Sales</a:t>
            </a:r>
            <a:endParaRPr lang="en-US" sz="2400" dirty="0"/>
          </a:p>
        </p:txBody>
      </p:sp>
      <p:sp>
        <p:nvSpPr>
          <p:cNvPr id="12" name="Text 10"/>
          <p:cNvSpPr/>
          <p:nvPr/>
        </p:nvSpPr>
        <p:spPr>
          <a:xfrm>
            <a:off x="7763232" y="4266962"/>
            <a:ext cx="5913953" cy="1282898"/>
          </a:xfrm>
          <a:prstGeom prst="rect">
            <a:avLst/>
          </a:prstGeom>
          <a:noFill/>
          <a:ln/>
        </p:spPr>
        <p:txBody>
          <a:bodyPr wrap="none" lIns="0" tIns="0" rIns="0" bIns="0" rtlCol="0" anchor="t"/>
          <a:lstStyle/>
          <a:p>
            <a:pPr marL="0" indent="0" algn="l">
              <a:lnSpc>
                <a:spcPts val="10100"/>
              </a:lnSpc>
              <a:buNone/>
            </a:pPr>
            <a:r>
              <a:rPr lang="en-US" sz="8050" b="1" dirty="0">
                <a:solidFill>
                  <a:srgbClr val="384653"/>
                </a:solidFill>
                <a:latin typeface="Times New Roman" panose="02020603050405020304" pitchFamily="18" charset="0"/>
                <a:ea typeface="Barlow Bold" pitchFamily="34" charset="-122"/>
                <a:cs typeface="Times New Roman" panose="02020603050405020304" pitchFamily="18" charset="0"/>
              </a:rPr>
              <a:t>19.8162 Units</a:t>
            </a:r>
            <a:endParaRPr lang="en-US" sz="8050" dirty="0"/>
          </a:p>
        </p:txBody>
      </p:sp>
      <p:sp>
        <p:nvSpPr>
          <p:cNvPr id="13" name="Text 11"/>
          <p:cNvSpPr/>
          <p:nvPr/>
        </p:nvSpPr>
        <p:spPr>
          <a:xfrm>
            <a:off x="7763232" y="5744766"/>
            <a:ext cx="5913953" cy="623887"/>
          </a:xfrm>
          <a:prstGeom prst="rect">
            <a:avLst/>
          </a:prstGeom>
          <a:noFill/>
          <a:ln/>
        </p:spPr>
        <p:txBody>
          <a:bodyPr wrap="square" lIns="0" tIns="0" rIns="0" bIns="0" rtlCol="0" anchor="t"/>
          <a:lstStyle/>
          <a:p>
            <a:pPr marL="0" indent="0" algn="l">
              <a:lnSpc>
                <a:spcPts val="2450"/>
              </a:lnSpc>
              <a:buNone/>
            </a:pPr>
            <a:r>
              <a:rPr lang="en-US" sz="1500" dirty="0">
                <a:solidFill>
                  <a:srgbClr val="384653"/>
                </a:solidFill>
                <a:latin typeface="Montserrat" pitchFamily="34" charset="0"/>
                <a:ea typeface="Montserrat" pitchFamily="34" charset="-122"/>
                <a:cs typeface="Montserrat" pitchFamily="34" charset="-120"/>
              </a:rPr>
              <a:t>This forecast indicates the expected sales volume given the specified advertising budget across the three channels.</a:t>
            </a:r>
            <a:endParaRPr lang="en-US" sz="1500" dirty="0"/>
          </a:p>
        </p:txBody>
      </p:sp>
      <p:sp>
        <p:nvSpPr>
          <p:cNvPr id="14" name="Rectangle 13">
            <a:extLst>
              <a:ext uri="{FF2B5EF4-FFF2-40B4-BE49-F238E27FC236}">
                <a16:creationId xmlns:a16="http://schemas.microsoft.com/office/drawing/2014/main" id="{EAF0A82F-4802-AB66-1870-183C12B69C00}"/>
              </a:ext>
            </a:extLst>
          </p:cNvPr>
          <p:cNvSpPr/>
          <p:nvPr/>
        </p:nvSpPr>
        <p:spPr>
          <a:xfrm>
            <a:off x="1" y="7781364"/>
            <a:ext cx="14630400" cy="448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58309" y="737116"/>
            <a:ext cx="5869305" cy="605671"/>
          </a:xfrm>
          <a:prstGeom prst="rect">
            <a:avLst/>
          </a:prstGeom>
          <a:noFill/>
          <a:ln/>
        </p:spPr>
        <p:txBody>
          <a:bodyPr wrap="none" lIns="0" tIns="0" rIns="0" bIns="0" rtlCol="0" anchor="t"/>
          <a:lstStyle/>
          <a:p>
            <a:pPr marL="0" indent="0" algn="l">
              <a:lnSpc>
                <a:spcPts val="4750"/>
              </a:lnSpc>
              <a:buNone/>
            </a:pPr>
            <a:r>
              <a:rPr lang="en-US" sz="3800" b="1" dirty="0">
                <a:solidFill>
                  <a:srgbClr val="2E3C4E"/>
                </a:solidFill>
                <a:latin typeface="Times New Roman" panose="02020603050405020304" pitchFamily="18" charset="0"/>
                <a:ea typeface="Barlow Bold" pitchFamily="34" charset="-122"/>
                <a:cs typeface="Times New Roman" panose="02020603050405020304" pitchFamily="18" charset="0"/>
              </a:rPr>
              <a:t>Scaling Impact Comparison</a:t>
            </a:r>
            <a:endParaRPr lang="en-US" sz="3800" dirty="0"/>
          </a:p>
        </p:txBody>
      </p:sp>
      <p:sp>
        <p:nvSpPr>
          <p:cNvPr id="3" name="Text 1"/>
          <p:cNvSpPr/>
          <p:nvPr/>
        </p:nvSpPr>
        <p:spPr>
          <a:xfrm>
            <a:off x="758309" y="1711047"/>
            <a:ext cx="13113782" cy="294680"/>
          </a:xfrm>
          <a:prstGeom prst="rect">
            <a:avLst/>
          </a:prstGeom>
          <a:noFill/>
          <a:ln/>
        </p:spPr>
        <p:txBody>
          <a:bodyPr wrap="none" lIns="0" tIns="0" rIns="0" bIns="0" rtlCol="0" anchor="t"/>
          <a:lstStyle/>
          <a:p>
            <a:pPr marL="0" indent="0" algn="l">
              <a:lnSpc>
                <a:spcPts val="2300"/>
              </a:lnSpc>
              <a:buNone/>
            </a:pPr>
            <a:r>
              <a:rPr lang="en-US" sz="1450" dirty="0">
                <a:solidFill>
                  <a:srgbClr val="384653"/>
                </a:solidFill>
                <a:latin typeface="Montserrat" pitchFamily="34" charset="0"/>
                <a:ea typeface="Montserrat" pitchFamily="34" charset="-122"/>
                <a:cs typeface="Montserrat" pitchFamily="34" charset="-120"/>
              </a:rPr>
              <a:t>While feature scaling is often critical for model performance, our analysis revealed a unique outcome in this specific dataset.</a:t>
            </a:r>
            <a:endParaRPr lang="en-US" sz="1450" dirty="0"/>
          </a:p>
        </p:txBody>
      </p:sp>
      <p:sp>
        <p:nvSpPr>
          <p:cNvPr id="4" name="Text 2"/>
          <p:cNvSpPr/>
          <p:nvPr/>
        </p:nvSpPr>
        <p:spPr>
          <a:xfrm>
            <a:off x="758309" y="2378631"/>
            <a:ext cx="6332220" cy="294680"/>
          </a:xfrm>
          <a:prstGeom prst="rect">
            <a:avLst/>
          </a:prstGeom>
          <a:noFill/>
          <a:ln/>
        </p:spPr>
        <p:txBody>
          <a:bodyPr wrap="none" lIns="0" tIns="0" rIns="0" bIns="0" rtlCol="0" anchor="t"/>
          <a:lstStyle/>
          <a:p>
            <a:pPr marL="0" indent="0" algn="l">
              <a:lnSpc>
                <a:spcPts val="2300"/>
              </a:lnSpc>
              <a:buNone/>
            </a:pPr>
            <a:endParaRPr lang="en-US" sz="1450" dirty="0"/>
          </a:p>
        </p:txBody>
      </p:sp>
      <p:sp>
        <p:nvSpPr>
          <p:cNvPr id="5" name="Shape 3"/>
          <p:cNvSpPr/>
          <p:nvPr/>
        </p:nvSpPr>
        <p:spPr>
          <a:xfrm>
            <a:off x="942975" y="2222841"/>
            <a:ext cx="6332220" cy="1840111"/>
          </a:xfrm>
          <a:prstGeom prst="roundRect">
            <a:avLst>
              <a:gd name="adj" fmla="val 15012"/>
            </a:avLst>
          </a:prstGeom>
          <a:solidFill>
            <a:srgbClr val="FFFFFF"/>
          </a:solidFill>
          <a:ln w="22860">
            <a:solidFill>
              <a:srgbClr val="BACFDD"/>
            </a:solidFill>
            <a:prstDash val="solid"/>
          </a:ln>
        </p:spPr>
      </p:sp>
      <p:pic>
        <p:nvPicPr>
          <p:cNvPr id="6" name="Image 0" descr="preencoded.png"/>
          <p:cNvPicPr>
            <a:picLocks noChangeAspect="1"/>
          </p:cNvPicPr>
          <p:nvPr/>
        </p:nvPicPr>
        <p:blipFill>
          <a:blip r:embed="rId3"/>
          <a:stretch>
            <a:fillRect/>
          </a:stretch>
        </p:blipFill>
        <p:spPr>
          <a:xfrm>
            <a:off x="2003343" y="2304991"/>
            <a:ext cx="220980" cy="220980"/>
          </a:xfrm>
          <a:prstGeom prst="rect">
            <a:avLst/>
          </a:prstGeom>
        </p:spPr>
      </p:pic>
      <p:pic>
        <p:nvPicPr>
          <p:cNvPr id="7" name="Image 1" descr="preencoded.png"/>
          <p:cNvPicPr>
            <a:picLocks noChangeAspect="1"/>
          </p:cNvPicPr>
          <p:nvPr/>
        </p:nvPicPr>
        <p:blipFill>
          <a:blip r:embed="rId4"/>
          <a:stretch>
            <a:fillRect/>
          </a:stretch>
        </p:blipFill>
        <p:spPr>
          <a:xfrm>
            <a:off x="5823784" y="2349971"/>
            <a:ext cx="220980" cy="220980"/>
          </a:xfrm>
          <a:prstGeom prst="rect">
            <a:avLst/>
          </a:prstGeom>
        </p:spPr>
      </p:pic>
      <p:sp>
        <p:nvSpPr>
          <p:cNvPr id="8" name="Text 4"/>
          <p:cNvSpPr/>
          <p:nvPr/>
        </p:nvSpPr>
        <p:spPr>
          <a:xfrm>
            <a:off x="2629117" y="2291536"/>
            <a:ext cx="2789873" cy="302776"/>
          </a:xfrm>
          <a:prstGeom prst="rect">
            <a:avLst/>
          </a:prstGeom>
          <a:noFill/>
          <a:ln/>
        </p:spPr>
        <p:txBody>
          <a:bodyPr wrap="none" lIns="0" tIns="0" rIns="0" bIns="0" rtlCol="0" anchor="t"/>
          <a:lstStyle/>
          <a:p>
            <a:pPr marL="0" indent="0" algn="l">
              <a:lnSpc>
                <a:spcPts val="2350"/>
              </a:lnSpc>
              <a:buNone/>
            </a:pPr>
            <a:r>
              <a:rPr lang="en-US" sz="1900" b="1" dirty="0">
                <a:solidFill>
                  <a:srgbClr val="384653"/>
                </a:solidFill>
                <a:latin typeface="Times New Roman" panose="02020603050405020304" pitchFamily="18" charset="0"/>
                <a:ea typeface="Barlow Bold" pitchFamily="34" charset="-122"/>
                <a:cs typeface="Times New Roman" panose="02020603050405020304" pitchFamily="18" charset="0"/>
              </a:rPr>
              <a:t>MSE (Mean Squared Error)</a:t>
            </a:r>
            <a:endParaRPr lang="en-US" sz="1900" dirty="0"/>
          </a:p>
        </p:txBody>
      </p:sp>
      <p:sp>
        <p:nvSpPr>
          <p:cNvPr id="9" name="Text 5"/>
          <p:cNvSpPr/>
          <p:nvPr/>
        </p:nvSpPr>
        <p:spPr>
          <a:xfrm>
            <a:off x="1157028" y="2725469"/>
            <a:ext cx="5734050" cy="294680"/>
          </a:xfrm>
          <a:prstGeom prst="rect">
            <a:avLst/>
          </a:prstGeom>
          <a:noFill/>
          <a:ln/>
        </p:spPr>
        <p:txBody>
          <a:bodyPr wrap="none" lIns="0" tIns="0" rIns="0" bIns="0" rtlCol="0" anchor="t"/>
          <a:lstStyle/>
          <a:p>
            <a:pPr marL="0" indent="0" algn="l">
              <a:lnSpc>
                <a:spcPts val="2300"/>
              </a:lnSpc>
              <a:buNone/>
            </a:pPr>
            <a:r>
              <a:rPr lang="en-US" sz="1450" b="1" dirty="0">
                <a:solidFill>
                  <a:srgbClr val="384653"/>
                </a:solidFill>
                <a:latin typeface="Montserrat" pitchFamily="34" charset="0"/>
                <a:ea typeface="Montserrat" pitchFamily="34" charset="-122"/>
                <a:cs typeface="Montserrat" pitchFamily="34" charset="-120"/>
              </a:rPr>
              <a:t>Standardization: 2.1711</a:t>
            </a:r>
            <a:endParaRPr lang="en-US" sz="1450" dirty="0"/>
          </a:p>
        </p:txBody>
      </p:sp>
      <p:sp>
        <p:nvSpPr>
          <p:cNvPr id="10" name="Text 6"/>
          <p:cNvSpPr/>
          <p:nvPr/>
        </p:nvSpPr>
        <p:spPr>
          <a:xfrm>
            <a:off x="1157028" y="3020149"/>
            <a:ext cx="5734050" cy="294680"/>
          </a:xfrm>
          <a:prstGeom prst="rect">
            <a:avLst/>
          </a:prstGeom>
          <a:noFill/>
          <a:ln/>
        </p:spPr>
        <p:txBody>
          <a:bodyPr wrap="none" lIns="0" tIns="0" rIns="0" bIns="0" rtlCol="0" anchor="t"/>
          <a:lstStyle/>
          <a:p>
            <a:pPr marL="0" indent="0" algn="l">
              <a:lnSpc>
                <a:spcPts val="2300"/>
              </a:lnSpc>
              <a:buNone/>
            </a:pPr>
            <a:r>
              <a:rPr lang="en-US" sz="1450" b="1" dirty="0">
                <a:solidFill>
                  <a:srgbClr val="384653"/>
                </a:solidFill>
                <a:latin typeface="Montserrat" pitchFamily="34" charset="0"/>
                <a:ea typeface="Montserrat" pitchFamily="34" charset="-122"/>
                <a:cs typeface="Montserrat" pitchFamily="34" charset="-120"/>
              </a:rPr>
              <a:t>Normalization: 2.1711</a:t>
            </a:r>
            <a:endParaRPr lang="en-US" sz="1450" dirty="0"/>
          </a:p>
        </p:txBody>
      </p:sp>
      <p:sp>
        <p:nvSpPr>
          <p:cNvPr id="11" name="Text 7"/>
          <p:cNvSpPr/>
          <p:nvPr/>
        </p:nvSpPr>
        <p:spPr>
          <a:xfrm>
            <a:off x="896421" y="4181522"/>
            <a:ext cx="6055995" cy="1768078"/>
          </a:xfrm>
          <a:prstGeom prst="rect">
            <a:avLst/>
          </a:prstGeom>
          <a:noFill/>
          <a:ln/>
        </p:spPr>
        <p:txBody>
          <a:bodyPr wrap="square" lIns="0" tIns="0" rIns="0" bIns="0" rtlCol="0" anchor="t"/>
          <a:lstStyle/>
          <a:p>
            <a:pPr marL="0" indent="0" algn="l">
              <a:lnSpc>
                <a:spcPts val="2300"/>
              </a:lnSpc>
              <a:buNone/>
            </a:pPr>
            <a:r>
              <a:rPr lang="en-US" sz="1450" b="1" dirty="0">
                <a:solidFill>
                  <a:srgbClr val="384653"/>
                </a:solidFill>
                <a:latin typeface="Montserrat" pitchFamily="34" charset="0"/>
                <a:ea typeface="Montserrat" pitchFamily="34" charset="-122"/>
                <a:cs typeface="Montserrat" pitchFamily="34" charset="-120"/>
              </a:rPr>
              <a:t>Observation:</a:t>
            </a:r>
            <a:r>
              <a:rPr lang="en-US" sz="1450" dirty="0">
                <a:solidFill>
                  <a:srgbClr val="384653"/>
                </a:solidFill>
                <a:latin typeface="Montserrat" pitchFamily="34" charset="0"/>
                <a:ea typeface="Montserrat" pitchFamily="34" charset="-122"/>
                <a:cs typeface="Montserrat" pitchFamily="34" charset="-120"/>
              </a:rPr>
              <a:t> In this particular scenario, both Standardization and Normalization methods yielded identical Mean Squared Error values. This suggests that the inherent distribution and relationships within our advertising expenditure data were not significantly altered by these scaling techniques in terms of predictive accuracy.</a:t>
            </a:r>
            <a:endParaRPr lang="en-US" sz="1450" dirty="0"/>
          </a:p>
        </p:txBody>
      </p:sp>
      <p:sp>
        <p:nvSpPr>
          <p:cNvPr id="13" name="Text 9"/>
          <p:cNvSpPr/>
          <p:nvPr/>
        </p:nvSpPr>
        <p:spPr>
          <a:xfrm>
            <a:off x="857943" y="6174959"/>
            <a:ext cx="6332220" cy="884039"/>
          </a:xfrm>
          <a:prstGeom prst="rect">
            <a:avLst/>
          </a:prstGeom>
          <a:noFill/>
          <a:ln/>
        </p:spPr>
        <p:txBody>
          <a:bodyPr wrap="square" lIns="0" tIns="0" rIns="0" bIns="0" rtlCol="0" anchor="t"/>
          <a:lstStyle/>
          <a:p>
            <a:pPr marL="0" indent="0" algn="l">
              <a:lnSpc>
                <a:spcPts val="2300"/>
              </a:lnSpc>
              <a:buNone/>
            </a:pPr>
            <a:r>
              <a:rPr lang="en-US" sz="1450" dirty="0">
                <a:solidFill>
                  <a:srgbClr val="384653"/>
                </a:solidFill>
                <a:latin typeface="Montserrat" pitchFamily="34" charset="0"/>
                <a:ea typeface="Montserrat" pitchFamily="34" charset="-122"/>
                <a:cs typeface="Montserrat" pitchFamily="34" charset="-120"/>
              </a:rPr>
              <a:t>While scaling is generally a best practice, its impact can vary depending on the dataset characteristics. Our findings emphasize the importance of empirical evaluation.</a:t>
            </a:r>
            <a:endParaRPr lang="en-US" sz="1450" dirty="0"/>
          </a:p>
        </p:txBody>
      </p:sp>
      <p:sp>
        <p:nvSpPr>
          <p:cNvPr id="14" name="Rectangle 13">
            <a:extLst>
              <a:ext uri="{FF2B5EF4-FFF2-40B4-BE49-F238E27FC236}">
                <a16:creationId xmlns:a16="http://schemas.microsoft.com/office/drawing/2014/main" id="{76DF59B2-F732-6552-4832-D5329C62ACCE}"/>
              </a:ext>
            </a:extLst>
          </p:cNvPr>
          <p:cNvSpPr/>
          <p:nvPr/>
        </p:nvSpPr>
        <p:spPr>
          <a:xfrm>
            <a:off x="1" y="7781364"/>
            <a:ext cx="14630400" cy="448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8309" y="1625560"/>
            <a:ext cx="8809315"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Times New Roman" panose="02020603050405020304" pitchFamily="18" charset="0"/>
                <a:ea typeface="Barlow Bold" pitchFamily="34" charset="-122"/>
                <a:cs typeface="Times New Roman" panose="02020603050405020304" pitchFamily="18" charset="0"/>
              </a:rPr>
              <a:t>Key Takeaways &amp; Future Directions</a:t>
            </a:r>
            <a:endParaRPr lang="en-US" sz="44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10" y="2778204"/>
            <a:ext cx="324922" cy="324922"/>
          </a:xfrm>
          <a:prstGeom prst="rect">
            <a:avLst/>
          </a:prstGeom>
        </p:spPr>
      </p:pic>
      <p:sp>
        <p:nvSpPr>
          <p:cNvPr id="4" name="Text 1"/>
          <p:cNvSpPr/>
          <p:nvPr/>
        </p:nvSpPr>
        <p:spPr>
          <a:xfrm>
            <a:off x="1462326" y="2771537"/>
            <a:ext cx="447258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Times New Roman" panose="02020603050405020304" pitchFamily="18" charset="0"/>
                <a:ea typeface="Barlow Bold" pitchFamily="34" charset="-122"/>
                <a:cs typeface="Times New Roman" panose="02020603050405020304" pitchFamily="18" charset="0"/>
              </a:rPr>
              <a:t>Overall Model Accuracy (R²): 0.9259</a:t>
            </a:r>
            <a:endParaRPr lang="en-US" sz="2200" dirty="0"/>
          </a:p>
        </p:txBody>
      </p:sp>
      <p:sp>
        <p:nvSpPr>
          <p:cNvPr id="5" name="Text 2"/>
          <p:cNvSpPr/>
          <p:nvPr/>
        </p:nvSpPr>
        <p:spPr>
          <a:xfrm>
            <a:off x="1462326" y="3257669"/>
            <a:ext cx="5717500" cy="104013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Our comprehensive model provides a highly accurate prediction of sales based on advertising expenditures, with over 92% of variance explained.</a:t>
            </a:r>
            <a:endParaRPr lang="en-US" sz="1700" dirty="0"/>
          </a:p>
        </p:txBody>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31775" y="2778204"/>
            <a:ext cx="324922" cy="324922"/>
          </a:xfrm>
          <a:prstGeom prst="rect">
            <a:avLst/>
          </a:prstGeom>
        </p:spPr>
      </p:pic>
      <p:sp>
        <p:nvSpPr>
          <p:cNvPr id="7" name="Text 3"/>
          <p:cNvSpPr/>
          <p:nvPr/>
        </p:nvSpPr>
        <p:spPr>
          <a:xfrm>
            <a:off x="8154591" y="2771537"/>
            <a:ext cx="3581281"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Times New Roman" panose="02020603050405020304" pitchFamily="18" charset="0"/>
                <a:ea typeface="Barlow Bold" pitchFamily="34" charset="-122"/>
                <a:cs typeface="Times New Roman" panose="02020603050405020304" pitchFamily="18" charset="0"/>
              </a:rPr>
              <a:t>TV: The Primary Sales Driver</a:t>
            </a:r>
            <a:endParaRPr lang="en-US" sz="2200" dirty="0"/>
          </a:p>
        </p:txBody>
      </p:sp>
      <p:sp>
        <p:nvSpPr>
          <p:cNvPr id="8" name="Text 4"/>
          <p:cNvSpPr/>
          <p:nvPr/>
        </p:nvSpPr>
        <p:spPr>
          <a:xfrm>
            <a:off x="8154591" y="3257669"/>
            <a:ext cx="5717500" cy="104013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Television advertising stands out as the most influential factor impacting sales in this dataset, a critical insight for strategic investment.</a:t>
            </a:r>
            <a:endParaRPr lang="en-US" sz="1700" dirty="0"/>
          </a:p>
        </p:txBody>
      </p:sp>
      <p:pic>
        <p:nvPicPr>
          <p:cNvPr id="9"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510" y="4737735"/>
            <a:ext cx="324922" cy="324922"/>
          </a:xfrm>
          <a:prstGeom prst="rect">
            <a:avLst/>
          </a:prstGeom>
        </p:spPr>
      </p:pic>
      <p:sp>
        <p:nvSpPr>
          <p:cNvPr id="10" name="Text 5"/>
          <p:cNvSpPr/>
          <p:nvPr/>
        </p:nvSpPr>
        <p:spPr>
          <a:xfrm>
            <a:off x="1462326" y="4731068"/>
            <a:ext cx="305645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Times New Roman" panose="02020603050405020304" pitchFamily="18" charset="0"/>
                <a:ea typeface="Barlow Bold" pitchFamily="34" charset="-122"/>
                <a:cs typeface="Times New Roman" panose="02020603050405020304" pitchFamily="18" charset="0"/>
              </a:rPr>
              <a:t>Robust Predictive Model</a:t>
            </a:r>
            <a:endParaRPr lang="en-US" sz="2200" dirty="0"/>
          </a:p>
        </p:txBody>
      </p:sp>
      <p:sp>
        <p:nvSpPr>
          <p:cNvPr id="11" name="Text 6"/>
          <p:cNvSpPr/>
          <p:nvPr/>
        </p:nvSpPr>
        <p:spPr>
          <a:xfrm>
            <a:off x="1462326" y="5217200"/>
            <a:ext cx="5717500" cy="104013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Combining all advertising mediums (TV, Radio, Newspaper) yields the most effective and reliable sales forecasting tool.</a:t>
            </a:r>
            <a:endParaRPr lang="en-US" sz="1700" dirty="0"/>
          </a:p>
        </p:txBody>
      </p:sp>
      <p:pic>
        <p:nvPicPr>
          <p:cNvPr id="12"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31775" y="4737735"/>
            <a:ext cx="324922" cy="324922"/>
          </a:xfrm>
          <a:prstGeom prst="rect">
            <a:avLst/>
          </a:prstGeom>
        </p:spPr>
      </p:pic>
      <p:sp>
        <p:nvSpPr>
          <p:cNvPr id="13" name="Text 7"/>
          <p:cNvSpPr/>
          <p:nvPr/>
        </p:nvSpPr>
        <p:spPr>
          <a:xfrm>
            <a:off x="8154591" y="4731068"/>
            <a:ext cx="2969538"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Times New Roman" panose="02020603050405020304" pitchFamily="18" charset="0"/>
                <a:ea typeface="Barlow Bold" pitchFamily="34" charset="-122"/>
                <a:cs typeface="Times New Roman" panose="02020603050405020304" pitchFamily="18" charset="0"/>
              </a:rPr>
              <a:t>Scaling for Consistency</a:t>
            </a:r>
            <a:endParaRPr lang="en-US" sz="2200" dirty="0"/>
          </a:p>
        </p:txBody>
      </p:sp>
      <p:sp>
        <p:nvSpPr>
          <p:cNvPr id="14" name="Text 8"/>
          <p:cNvSpPr/>
          <p:nvPr/>
        </p:nvSpPr>
        <p:spPr>
          <a:xfrm>
            <a:off x="8154591" y="5217200"/>
            <a:ext cx="5717500" cy="138684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While standardization and normalization produced similar results in this specific case, feature scaling remains important for model consistency and generalization across diverse datasets.</a:t>
            </a:r>
            <a:endParaRPr lang="en-US" sz="1700" dirty="0"/>
          </a:p>
        </p:txBody>
      </p:sp>
      <p:sp>
        <p:nvSpPr>
          <p:cNvPr id="15" name="Rectangle 14">
            <a:extLst>
              <a:ext uri="{FF2B5EF4-FFF2-40B4-BE49-F238E27FC236}">
                <a16:creationId xmlns:a16="http://schemas.microsoft.com/office/drawing/2014/main" id="{CCA828B8-FA2E-EBFF-D631-BCD952A361E8}"/>
              </a:ext>
            </a:extLst>
          </p:cNvPr>
          <p:cNvSpPr/>
          <p:nvPr/>
        </p:nvSpPr>
        <p:spPr>
          <a:xfrm>
            <a:off x="1" y="7781364"/>
            <a:ext cx="14630400" cy="448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801</Words>
  <Application>Microsoft Office PowerPoint</Application>
  <PresentationFormat>Custom</PresentationFormat>
  <Paragraphs>88</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Barlow Light</vt:lpstr>
      <vt:lpstr>Times New Roman</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Pulkit Gupta</cp:lastModifiedBy>
  <cp:revision>3</cp:revision>
  <dcterms:created xsi:type="dcterms:W3CDTF">2025-12-28T13:49:09Z</dcterms:created>
  <dcterms:modified xsi:type="dcterms:W3CDTF">2025-12-28T13:52:33Z</dcterms:modified>
</cp:coreProperties>
</file>